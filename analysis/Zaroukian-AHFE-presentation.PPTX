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7" r:id="rId4"/>
    <p:sldMasterId id="2147484216" r:id="rId5"/>
    <p:sldMasterId id="2147484224" r:id="rId6"/>
    <p:sldMasterId id="2147484232" r:id="rId7"/>
  </p:sldMasterIdLst>
  <p:notesMasterIdLst>
    <p:notesMasterId r:id="rId29"/>
  </p:notesMasterIdLst>
  <p:handoutMasterIdLst>
    <p:handoutMasterId r:id="rId30"/>
  </p:handoutMasterIdLst>
  <p:sldIdLst>
    <p:sldId id="300" r:id="rId8"/>
    <p:sldId id="321" r:id="rId9"/>
    <p:sldId id="316" r:id="rId10"/>
    <p:sldId id="319" r:id="rId11"/>
    <p:sldId id="308" r:id="rId12"/>
    <p:sldId id="309" r:id="rId13"/>
    <p:sldId id="313" r:id="rId14"/>
    <p:sldId id="301" r:id="rId15"/>
    <p:sldId id="320" r:id="rId16"/>
    <p:sldId id="311" r:id="rId17"/>
    <p:sldId id="312" r:id="rId18"/>
    <p:sldId id="310" r:id="rId19"/>
    <p:sldId id="314" r:id="rId20"/>
    <p:sldId id="317" r:id="rId21"/>
    <p:sldId id="318" r:id="rId22"/>
    <p:sldId id="295" r:id="rId23"/>
    <p:sldId id="325" r:id="rId24"/>
    <p:sldId id="302" r:id="rId25"/>
    <p:sldId id="322" r:id="rId26"/>
    <p:sldId id="323" r:id="rId27"/>
    <p:sldId id="303" r:id="rId28"/>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DBDCD8"/>
    <a:srgbClr val="82786F"/>
    <a:srgbClr val="32362C"/>
    <a:srgbClr val="45473E"/>
    <a:srgbClr val="3B4324"/>
    <a:srgbClr val="D8D8D8"/>
    <a:srgbClr val="C9C9C9"/>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51" autoAdjust="0"/>
    <p:restoredTop sz="80560" autoAdjust="0"/>
  </p:normalViewPr>
  <p:slideViewPr>
    <p:cSldViewPr snapToGrid="0">
      <p:cViewPr varScale="1">
        <p:scale>
          <a:sx n="69" d="100"/>
          <a:sy n="69" d="100"/>
        </p:scale>
        <p:origin x="1602" y="72"/>
      </p:cViewPr>
      <p:guideLst/>
    </p:cSldViewPr>
  </p:slideViewPr>
  <p:notesTextViewPr>
    <p:cViewPr>
      <p:scale>
        <a:sx n="1" d="1"/>
        <a:sy n="1" d="1"/>
      </p:scale>
      <p:origin x="0" y="0"/>
    </p:cViewPr>
  </p:notesTextViewPr>
  <p:notesViewPr>
    <p:cSldViewPr snapToGrid="0">
      <p:cViewPr varScale="1">
        <p:scale>
          <a:sx n="80" d="100"/>
          <a:sy n="80" d="100"/>
        </p:scale>
        <p:origin x="222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475" cy="465138"/>
          </a:xfrm>
          <a:prstGeom prst="rect">
            <a:avLst/>
          </a:prstGeom>
        </p:spPr>
        <p:txBody>
          <a:bodyPr vert="horz" lIns="93177" tIns="46589" rIns="93177" bIns="46589" rtlCol="0"/>
          <a:lstStyle>
            <a:lvl1pPr algn="l">
              <a:defRPr sz="1200">
                <a:ea typeface="+mn-ea"/>
                <a:cs typeface="+mn-cs"/>
              </a:defRPr>
            </a:lvl1pPr>
          </a:lstStyle>
          <a:p>
            <a:pPr>
              <a:defRPr/>
            </a:pPr>
            <a:endParaRPr lang="en-US"/>
          </a:p>
        </p:txBody>
      </p:sp>
      <p:sp>
        <p:nvSpPr>
          <p:cNvPr id="3" name="Date Placeholder 2"/>
          <p:cNvSpPr>
            <a:spLocks noGrp="1"/>
          </p:cNvSpPr>
          <p:nvPr>
            <p:ph type="dt" sz="quarter" idx="1"/>
          </p:nvPr>
        </p:nvSpPr>
        <p:spPr>
          <a:xfrm>
            <a:off x="3970340" y="0"/>
            <a:ext cx="3038475" cy="465138"/>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BD16C31D-1C22-F84A-A7B5-6952EF1AE403}" type="datetimeFigureOut">
              <a:rPr lang="en-US" altLang="en-US"/>
              <a:pPr/>
              <a:t>7/22/2019</a:t>
            </a:fld>
            <a:endParaRPr lang="en-US" altLang="en-US"/>
          </a:p>
        </p:txBody>
      </p:sp>
      <p:sp>
        <p:nvSpPr>
          <p:cNvPr id="4" name="Footer Placeholder 3"/>
          <p:cNvSpPr>
            <a:spLocks noGrp="1"/>
          </p:cNvSpPr>
          <p:nvPr>
            <p:ph type="ftr" sz="quarter" idx="2"/>
          </p:nvPr>
        </p:nvSpPr>
        <p:spPr>
          <a:xfrm>
            <a:off x="2" y="8829675"/>
            <a:ext cx="3038475" cy="465138"/>
          </a:xfrm>
          <a:prstGeom prst="rect">
            <a:avLst/>
          </a:prstGeom>
        </p:spPr>
        <p:txBody>
          <a:bodyPr vert="horz" lIns="93177" tIns="46589" rIns="93177" bIns="46589" rtlCol="0" anchor="b"/>
          <a:lstStyle>
            <a:lvl1pPr algn="l">
              <a:defRPr sz="120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40"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E19AB6B5-BF0B-064C-A88E-36E4B2A82555}" type="slidenum">
              <a:rPr lang="en-US" altLang="en-US"/>
              <a:pPr/>
              <a:t>‹#›</a:t>
            </a:fld>
            <a:endParaRPr lang="en-US" altLang="en-US"/>
          </a:p>
        </p:txBody>
      </p:sp>
    </p:spTree>
    <p:extLst>
      <p:ext uri="{BB962C8B-B14F-4D97-AF65-F5344CB8AC3E}">
        <p14:creationId xmlns:p14="http://schemas.microsoft.com/office/powerpoint/2010/main" val="103315853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475" cy="465138"/>
          </a:xfrm>
          <a:prstGeom prst="rect">
            <a:avLst/>
          </a:prstGeom>
        </p:spPr>
        <p:txBody>
          <a:bodyPr vert="horz" lIns="93177" tIns="46589" rIns="93177" bIns="46589" rtlCol="0"/>
          <a:lstStyle>
            <a:lvl1pPr algn="l">
              <a:defRPr sz="1200">
                <a:ea typeface="+mn-ea"/>
                <a:cs typeface="+mn-cs"/>
              </a:defRPr>
            </a:lvl1pPr>
          </a:lstStyle>
          <a:p>
            <a:pPr>
              <a:defRPr/>
            </a:pPr>
            <a:endParaRPr lang="en-US"/>
          </a:p>
        </p:txBody>
      </p:sp>
      <p:sp>
        <p:nvSpPr>
          <p:cNvPr id="3" name="Date Placeholder 2"/>
          <p:cNvSpPr>
            <a:spLocks noGrp="1"/>
          </p:cNvSpPr>
          <p:nvPr>
            <p:ph type="dt" idx="1"/>
          </p:nvPr>
        </p:nvSpPr>
        <p:spPr>
          <a:xfrm>
            <a:off x="3970340" y="0"/>
            <a:ext cx="3038475" cy="465138"/>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A438D594-1B45-0D47-8F23-AED13F1D19BA}" type="datetimeFigureOut">
              <a:rPr lang="en-US" altLang="en-US"/>
              <a:pPr/>
              <a:t>7/22/2019</a:t>
            </a:fld>
            <a:endParaRPr lang="en-US" alt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smtClean="0"/>
          </a:p>
        </p:txBody>
      </p:sp>
      <p:sp>
        <p:nvSpPr>
          <p:cNvPr id="5" name="Notes Placeholder 4"/>
          <p:cNvSpPr>
            <a:spLocks noGrp="1"/>
          </p:cNvSpPr>
          <p:nvPr>
            <p:ph type="body" sz="quarter" idx="3"/>
          </p:nvPr>
        </p:nvSpPr>
        <p:spPr>
          <a:xfrm>
            <a:off x="701675" y="4416428"/>
            <a:ext cx="5607050" cy="4183063"/>
          </a:xfrm>
          <a:prstGeom prst="rect">
            <a:avLst/>
          </a:prstGeom>
        </p:spPr>
        <p:txBody>
          <a:bodyPr vert="horz" lIns="93177" tIns="46589" rIns="93177" bIns="46589" rtlCol="0">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6" name="Footer Placeholder 5"/>
          <p:cNvSpPr>
            <a:spLocks noGrp="1"/>
          </p:cNvSpPr>
          <p:nvPr>
            <p:ph type="ftr" sz="quarter" idx="4"/>
          </p:nvPr>
        </p:nvSpPr>
        <p:spPr>
          <a:xfrm>
            <a:off x="2" y="8829675"/>
            <a:ext cx="3038475" cy="465138"/>
          </a:xfrm>
          <a:prstGeom prst="rect">
            <a:avLst/>
          </a:prstGeom>
        </p:spPr>
        <p:txBody>
          <a:bodyPr vert="horz" lIns="93177" tIns="46589" rIns="93177" bIns="46589" rtlCol="0" anchor="b"/>
          <a:lstStyle>
            <a:lvl1pPr algn="l">
              <a:defRPr sz="120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40"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9C2944A4-BE83-F140-9F51-6CC3B6D54F49}" type="slidenum">
              <a:rPr lang="en-US" altLang="en-US"/>
              <a:pPr/>
              <a:t>‹#›</a:t>
            </a:fld>
            <a:endParaRPr lang="en-US" altLang="en-US"/>
          </a:p>
        </p:txBody>
      </p:sp>
    </p:spTree>
    <p:extLst>
      <p:ext uri="{BB962C8B-B14F-4D97-AF65-F5344CB8AC3E}">
        <p14:creationId xmlns:p14="http://schemas.microsoft.com/office/powerpoint/2010/main" val="214230641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smtClean="0"/>
              <a:t>Information Extraction (IE) research has made remarkable progress in Natural Language Processing using intrinsic measures, but little attention has been paid to human analysts as downstream processors. In one experiment, when participants were presented text with or without markup from an IE pipeline, they showed better text comprehension without markup. In a second experiment, the markup was hand-generated to be as relevant and accurate as possible to find conditions under which markup improves performance. This experiment showed no significant difference between performance with and without markup, but a significant majority of participants preferred working with markup to without. Further, preference for markup showed a </a:t>
            </a:r>
            <a:r>
              <a:rPr lang="en-US" dirty="0" smtClean="0"/>
              <a:t>fairly strong correlation with participants’ ratings of their own trust in automation</a:t>
            </a:r>
            <a:r>
              <a:rPr lang="en-US" b="0" dirty="0" smtClean="0"/>
              <a:t>. These results emphasize the importance of testing IE systems with actual users and the importance of trust in automation.</a:t>
            </a:r>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2</a:t>
            </a:fld>
            <a:endParaRPr lang="en-US" altLang="en-US"/>
          </a:p>
        </p:txBody>
      </p:sp>
    </p:spTree>
    <p:extLst>
      <p:ext uri="{BB962C8B-B14F-4D97-AF65-F5344CB8AC3E}">
        <p14:creationId xmlns:p14="http://schemas.microsoft.com/office/powerpoint/2010/main" val="2491420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In one experiment, when participants were presented text with or without markup from an IE pipeline, they showed better text comprehension without markup.</a:t>
            </a:r>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3</a:t>
            </a:fld>
            <a:endParaRPr lang="en-US" altLang="en-US"/>
          </a:p>
        </p:txBody>
      </p:sp>
    </p:spTree>
    <p:extLst>
      <p:ext uri="{BB962C8B-B14F-4D97-AF65-F5344CB8AC3E}">
        <p14:creationId xmlns:p14="http://schemas.microsoft.com/office/powerpoint/2010/main" val="2582628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Wilcoxon sign rank test</a:t>
            </a:r>
            <a:r>
              <a:rPr lang="en-US" baseline="0" dirty="0" smtClean="0"/>
              <a:t> – plain faster, more accurate than markup</a:t>
            </a:r>
            <a:endParaRPr lang="en-US" dirty="0"/>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7</a:t>
            </a:fld>
            <a:endParaRPr lang="en-US" altLang="en-US"/>
          </a:p>
        </p:txBody>
      </p:sp>
    </p:spTree>
    <p:extLst>
      <p:ext uri="{BB962C8B-B14F-4D97-AF65-F5344CB8AC3E}">
        <p14:creationId xmlns:p14="http://schemas.microsoft.com/office/powerpoint/2010/main" val="3436572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second experiment, the markup was hand-generated to be as relevant and accurate as possible to find conditions under which markup improves performance. This experiment showed no significant difference between performance with and without markup, but a significant majority of participants preferred working with markup to without. Further, preference for markup showed a fairly strong correlation with participants’ ratings of their own trust in automation. </a:t>
            </a:r>
            <a:endParaRPr lang="en-US" dirty="0"/>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8</a:t>
            </a:fld>
            <a:endParaRPr lang="en-US" altLang="en-US"/>
          </a:p>
        </p:txBody>
      </p:sp>
    </p:spTree>
    <p:extLst>
      <p:ext uri="{BB962C8B-B14F-4D97-AF65-F5344CB8AC3E}">
        <p14:creationId xmlns:p14="http://schemas.microsoft.com/office/powerpoint/2010/main" val="1057079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smtClean="0">
                <a:latin typeface="Times" panose="02020603050405020304" pitchFamily="18" charset="0"/>
                <a:ea typeface="Times New Roman" panose="02020603050405020304" pitchFamily="18" charset="0"/>
                <a:cs typeface="Times New Roman" panose="02020603050405020304" pitchFamily="18" charset="0"/>
              </a:rPr>
              <a:t>Concerns about speed and consequent quality of responses were raised in Experiment 1, so for the analyses below only participants with response times of 2 minutes or longer for each test scenario were included (150 out of 200 participants). One additional participant was removed due to a technical failure, leaving 80 participants in the Plain condition and 69 participants in the Markup condition. </a:t>
            </a:r>
            <a:endParaRPr lang="en-US" sz="1200" dirty="0" smtClean="0">
              <a:effectLst/>
              <a:latin typeface="Times" panose="02020603050405020304" pitchFamily="18"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13</a:t>
            </a:fld>
            <a:endParaRPr lang="en-US" altLang="en-US"/>
          </a:p>
        </p:txBody>
      </p:sp>
    </p:spTree>
    <p:extLst>
      <p:ext uri="{BB962C8B-B14F-4D97-AF65-F5344CB8AC3E}">
        <p14:creationId xmlns:p14="http://schemas.microsoft.com/office/powerpoint/2010/main" val="763365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pitchFamily="34" charset="0"/>
                <a:ea typeface="ＭＳ Ｐゴシック" charset="0"/>
                <a:cs typeface="ＭＳ Ｐゴシック" charset="0"/>
              </a:rPr>
              <a:t>Neither performance nor preference correlated well with any of the demographic information collected, with the exception of Language, where there is a medium positive correlation between accuracy and being a native speaker of English, as well as a medium negative correlative between response time and being a native speaker of English. Correlation coefficients are shown in Table 3, where one participant (Other/prefer not to say) was dropped from Gender correlations, and Occupation was pooled into Non-science and technology versus Science and technology.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Arial" pitchFamily="34" charset="0"/>
                <a:ea typeface="ＭＳ Ｐゴシック" charset="0"/>
                <a:cs typeface="ＭＳ Ｐゴシック" charset="0"/>
              </a:rPr>
              <a:t>Preference for markup showed a fairly strong correlation with participants’ ratings of their own trust in automation (r = 0.39). The correlation between trust in automation and objective performance measures, however, is very small (accuracy: r = 0.06, response time: r = -0.05).</a:t>
            </a:r>
          </a:p>
          <a:p>
            <a:endParaRPr lang="en-US" dirty="0"/>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14</a:t>
            </a:fld>
            <a:endParaRPr lang="en-US" altLang="en-US"/>
          </a:p>
        </p:txBody>
      </p:sp>
    </p:spTree>
    <p:extLst>
      <p:ext uri="{BB962C8B-B14F-4D97-AF65-F5344CB8AC3E}">
        <p14:creationId xmlns:p14="http://schemas.microsoft.com/office/powerpoint/2010/main" val="2444541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smtClean="0"/>
              <a:t>While the markup used in Experiment 2 was hand-generated to be as helpful but realistic as possible, it still did not lead to better performance than plain text. </a:t>
            </a:r>
          </a:p>
          <a:p>
            <a:r>
              <a:rPr lang="en-US" sz="1200" b="0" dirty="0" smtClean="0"/>
              <a:t>This is an important warning to researchers trusting that actual automated markup will be helpful. This markup, however, was overall preferred to plain text, which is valuable for the overall user experience. </a:t>
            </a:r>
          </a:p>
          <a:p>
            <a:endParaRPr 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dirty="0" smtClean="0"/>
              <a:t>These results also emphasize that the trust in the automation that is used in an IE pipeline may be important for user experience and for encouraging users to opt to use these pipelines. However, the link between trust in automation and objective performance measures in the current study is very small, and experiments like this demonstrate that the automation need not improve performance. Much remains to be understood about the gap between IE technology and its human user for this technology to truly support human-computer interaction.</a:t>
            </a:r>
          </a:p>
          <a:p>
            <a:endParaRPr lang="en-US" dirty="0"/>
          </a:p>
        </p:txBody>
      </p:sp>
      <p:sp>
        <p:nvSpPr>
          <p:cNvPr id="4" name="Slide Number Placeholder 3"/>
          <p:cNvSpPr>
            <a:spLocks noGrp="1"/>
          </p:cNvSpPr>
          <p:nvPr>
            <p:ph type="sldNum" sz="quarter" idx="10"/>
          </p:nvPr>
        </p:nvSpPr>
        <p:spPr/>
        <p:txBody>
          <a:bodyPr/>
          <a:lstStyle/>
          <a:p>
            <a:fld id="{9C2944A4-BE83-F140-9F51-6CC3B6D54F49}" type="slidenum">
              <a:rPr lang="en-US" altLang="en-US" smtClean="0"/>
              <a:pPr/>
              <a:t>15</a:t>
            </a:fld>
            <a:endParaRPr lang="en-US" altLang="en-US"/>
          </a:p>
        </p:txBody>
      </p:sp>
    </p:spTree>
    <p:extLst>
      <p:ext uri="{BB962C8B-B14F-4D97-AF65-F5344CB8AC3E}">
        <p14:creationId xmlns:p14="http://schemas.microsoft.com/office/powerpoint/2010/main" val="20504735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White Cover Slide">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1"/>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1"/>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3"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14"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15"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17"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18" name="Rectangle 17"/>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a:solidFill>
                  <a:schemeClr val="tx1"/>
                </a:solidFill>
              </a:rPr>
              <a:t>U.S. ARMY </a:t>
            </a:r>
            <a:r>
              <a:rPr lang="en-US" sz="3200" dirty="0" smtClean="0">
                <a:solidFill>
                  <a:schemeClr val="tx1"/>
                </a:solidFill>
              </a:rPr>
              <a:t>COMBAT</a:t>
            </a:r>
            <a:r>
              <a:rPr lang="en-US" sz="3200" baseline="0" dirty="0" smtClean="0">
                <a:solidFill>
                  <a:schemeClr val="tx1"/>
                </a:solidFill>
              </a:rPr>
              <a:t> CAPABILITIES DEVELOPMENT COMMAND –</a:t>
            </a:r>
          </a:p>
          <a:p>
            <a:pPr lvl="0">
              <a:lnSpc>
                <a:spcPct val="100000"/>
              </a:lnSpc>
              <a:spcBef>
                <a:spcPts val="0"/>
              </a:spcBef>
              <a:defRPr/>
            </a:pPr>
            <a:r>
              <a:rPr lang="en-US" sz="3200" baseline="0" dirty="0" smtClean="0">
                <a:solidFill>
                  <a:schemeClr val="tx1"/>
                </a:solidFill>
              </a:rPr>
              <a:t>ARMY RESEARCH LABORATORY</a:t>
            </a:r>
            <a:endParaRPr lang="en-US" sz="3200" dirty="0">
              <a:solidFill>
                <a:schemeClr val="tx1"/>
              </a:solidFill>
            </a:endParaRPr>
          </a:p>
        </p:txBody>
      </p:sp>
      <p:sp>
        <p:nvSpPr>
          <p:cNvPr id="19"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1"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24249044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Black Cover Slide (FOR DIGITAL USE ONLY)">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4"/>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4"/>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7"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19" name="Rectangle 18"/>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bg1"/>
                </a:solidFill>
              </a:rPr>
              <a:t>U.S. ARMY COMBAT</a:t>
            </a:r>
            <a:r>
              <a:rPr lang="en-US" sz="3200" baseline="0" dirty="0" smtClean="0">
                <a:solidFill>
                  <a:schemeClr val="bg1"/>
                </a:solidFill>
              </a:rPr>
              <a:t> CAPABILITIES DEVELOPMENT COMMAND –</a:t>
            </a:r>
          </a:p>
          <a:p>
            <a:pPr lvl="0">
              <a:lnSpc>
                <a:spcPct val="100000"/>
              </a:lnSpc>
              <a:spcBef>
                <a:spcPts val="0"/>
              </a:spcBef>
              <a:defRPr/>
            </a:pPr>
            <a:r>
              <a:rPr lang="en-US" sz="3200" baseline="0" dirty="0" smtClean="0">
                <a:solidFill>
                  <a:schemeClr val="bg1"/>
                </a:solidFill>
              </a:rPr>
              <a:t>ARMY RESEARCH LABORATORY</a:t>
            </a:r>
            <a:endParaRPr lang="en-US" sz="3200" dirty="0">
              <a:solidFill>
                <a:schemeClr val="bg1"/>
              </a:solidFill>
            </a:endParaRPr>
          </a:p>
        </p:txBody>
      </p:sp>
      <p:sp>
        <p:nvSpPr>
          <p:cNvPr id="30"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32"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33"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34"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35"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92888058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bwMode="auto">
          <a:xfrm>
            <a:off x="442210" y="2286001"/>
            <a:ext cx="8237095" cy="1285874"/>
          </a:xfrm>
          <a:prstGeom prst="rect">
            <a:avLst/>
          </a:prstGeom>
          <a:noFill/>
          <a:ln w="9525">
            <a:noFill/>
            <a:miter lim="800000"/>
            <a:headEnd/>
            <a:tailEnd/>
          </a:ln>
        </p:spPr>
        <p:txBody>
          <a:bodyPr anchor="b"/>
          <a:lstStyle>
            <a:lvl1pPr>
              <a:defRPr sz="3600" cap="none" baseline="0">
                <a:solidFill>
                  <a:schemeClr val="tx1"/>
                </a:solidFill>
              </a:defRPr>
            </a:lvl1pPr>
          </a:lstStyle>
          <a:p>
            <a:pPr lvl="0"/>
            <a:r>
              <a:rPr lang="en-US" dirty="0" smtClean="0"/>
              <a:t>SECTION TITLE GOES HERE</a:t>
            </a:r>
          </a:p>
        </p:txBody>
      </p:sp>
      <p:sp>
        <p:nvSpPr>
          <p:cNvPr id="6" name="Text Placeholder 5"/>
          <p:cNvSpPr>
            <a:spLocks noGrp="1"/>
          </p:cNvSpPr>
          <p:nvPr>
            <p:ph type="body" sz="quarter" idx="12" hasCustomPrompt="1"/>
          </p:nvPr>
        </p:nvSpPr>
        <p:spPr>
          <a:xfrm>
            <a:off x="442210" y="3569973"/>
            <a:ext cx="8237095" cy="854075"/>
          </a:xfrm>
          <a:prstGeom prst="rect">
            <a:avLst/>
          </a:prstGeom>
        </p:spPr>
        <p:txBody>
          <a:bodyPr/>
          <a:lstStyle>
            <a:lvl1pPr>
              <a:defRPr sz="1800" b="0"/>
            </a:lvl1pPr>
          </a:lstStyle>
          <a:p>
            <a:pPr lvl="0"/>
            <a:r>
              <a:rPr lang="en-US" dirty="0" smtClean="0"/>
              <a:t>SECTION SUBTITLE GOES HERE</a:t>
            </a:r>
          </a:p>
        </p:txBody>
      </p:sp>
    </p:spTree>
    <p:extLst>
      <p:ext uri="{BB962C8B-B14F-4D97-AF65-F5344CB8AC3E}">
        <p14:creationId xmlns:p14="http://schemas.microsoft.com/office/powerpoint/2010/main" val="408069952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Column">
    <p:spTree>
      <p:nvGrpSpPr>
        <p:cNvPr id="1" name=""/>
        <p:cNvGrpSpPr/>
        <p:nvPr/>
      </p:nvGrpSpPr>
      <p:grpSpPr>
        <a:xfrm>
          <a:off x="0" y="0"/>
          <a:ext cx="0" cy="0"/>
          <a:chOff x="0" y="0"/>
          <a:chExt cx="0" cy="0"/>
        </a:xfrm>
      </p:grpSpPr>
      <p:sp>
        <p:nvSpPr>
          <p:cNvPr id="21" name="Text Placeholder 2"/>
          <p:cNvSpPr>
            <a:spLocks noGrp="1"/>
          </p:cNvSpPr>
          <p:nvPr>
            <p:ph idx="1" hasCustomPrompt="1"/>
          </p:nvPr>
        </p:nvSpPr>
        <p:spPr bwMode="auto">
          <a:xfrm>
            <a:off x="442210" y="1228725"/>
            <a:ext cx="8094688" cy="4714874"/>
          </a:xfrm>
          <a:prstGeom prst="rect">
            <a:avLst/>
          </a:prstGeom>
          <a:noFill/>
          <a:ln w="9525">
            <a:noFill/>
            <a:miter lim="800000"/>
            <a:headEnd/>
            <a:tailEnd/>
          </a:ln>
        </p:spPr>
        <p:txBody>
          <a:bodyPr/>
          <a:lstStyle>
            <a:lvl1pPr marL="230188" indent="-230188">
              <a:spcBef>
                <a:spcPts val="0"/>
              </a:spcBef>
              <a:buFont typeface="Arial" panose="020B0604020202020204" pitchFamily="34" charset="0"/>
              <a:buChar char="•"/>
              <a:defRPr sz="1800" b="1">
                <a:solidFill>
                  <a:schemeClr val="tx1"/>
                </a:solidFill>
              </a:defRPr>
            </a:lvl1pPr>
            <a:lvl2pPr marL="461963" indent="-233363">
              <a:spcBef>
                <a:spcPts val="0"/>
              </a:spcBef>
              <a:defRPr sz="1600">
                <a:solidFill>
                  <a:schemeClr val="tx1"/>
                </a:solidFill>
              </a:defRPr>
            </a:lvl2pPr>
            <a:lvl3pPr marL="684213" indent="-222250">
              <a:spcBef>
                <a:spcPts val="0"/>
              </a:spcBef>
              <a:spcAft>
                <a:spcPts val="1800"/>
              </a:spcAft>
              <a:defRPr sz="1400">
                <a:solidFill>
                  <a:schemeClr val="tx1"/>
                </a:solidFill>
              </a:defRPr>
            </a:lvl3pPr>
            <a:lvl4pPr>
              <a:defRPr sz="2000">
                <a:solidFill>
                  <a:schemeClr val="tx1"/>
                </a:solidFill>
              </a:defRPr>
            </a:lvl4pPr>
            <a:lvl5pPr>
              <a:defRPr sz="2000">
                <a:solidFill>
                  <a:schemeClr val="tx1"/>
                </a:solidFill>
              </a:defRPr>
            </a:lvl5pPr>
          </a:lstStyle>
          <a:p>
            <a:pPr lvl="0"/>
            <a:r>
              <a:rPr lang="en-US" noProof="0" dirty="0" smtClean="0"/>
              <a:t>First level bullet</a:t>
            </a:r>
          </a:p>
          <a:p>
            <a:pPr lvl="1"/>
            <a:r>
              <a:rPr lang="en-US" noProof="0" dirty="0" smtClean="0"/>
              <a:t>Second level bullet</a:t>
            </a:r>
          </a:p>
          <a:p>
            <a:pPr lvl="2"/>
            <a:r>
              <a:rPr lang="en-US" noProof="0" dirty="0" smtClean="0"/>
              <a:t>Third level bullet</a:t>
            </a:r>
          </a:p>
          <a:p>
            <a:pPr lvl="0"/>
            <a:r>
              <a:rPr lang="en-US" noProof="0" dirty="0" smtClean="0"/>
              <a:t>First level bullet</a:t>
            </a:r>
          </a:p>
          <a:p>
            <a:pPr lvl="1"/>
            <a:r>
              <a:rPr lang="en-US" noProof="0" dirty="0" smtClean="0"/>
              <a:t>Second level bullet</a:t>
            </a:r>
          </a:p>
          <a:p>
            <a:pPr lvl="2"/>
            <a:r>
              <a:rPr lang="en-US" noProof="0" dirty="0" smtClean="0"/>
              <a:t>Third level bullet</a:t>
            </a:r>
          </a:p>
        </p:txBody>
      </p:sp>
      <p:sp>
        <p:nvSpPr>
          <p:cNvPr id="6"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427147961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270148383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White Cover Slide">
    <p:bg>
      <p:bgRef idx="1001">
        <a:schemeClr val="bg1"/>
      </p:bgRef>
    </p:bg>
    <p:spTree>
      <p:nvGrpSpPr>
        <p:cNvPr id="1" name=""/>
        <p:cNvGrpSpPr/>
        <p:nvPr/>
      </p:nvGrpSpPr>
      <p:grpSpPr>
        <a:xfrm>
          <a:off x="0" y="0"/>
          <a:ext cx="0" cy="0"/>
          <a:chOff x="0" y="0"/>
          <a:chExt cx="0" cy="0"/>
        </a:xfrm>
      </p:grpSpPr>
      <p:pic>
        <p:nvPicPr>
          <p:cNvPr id="18" name="Picture 17"/>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25"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26"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27"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8"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29" name="Rectangle 28"/>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tx1"/>
                </a:solidFill>
              </a:rPr>
              <a:t>U.S. ARMY COMBAT</a:t>
            </a:r>
            <a:r>
              <a:rPr lang="en-US" sz="3200" baseline="0" dirty="0" smtClean="0">
                <a:solidFill>
                  <a:schemeClr val="tx1"/>
                </a:solidFill>
              </a:rPr>
              <a:t> CAPABILITIES DEVELOPMENT COMMAND –</a:t>
            </a:r>
          </a:p>
          <a:p>
            <a:pPr lvl="0">
              <a:lnSpc>
                <a:spcPct val="100000"/>
              </a:lnSpc>
              <a:spcBef>
                <a:spcPts val="0"/>
              </a:spcBef>
              <a:defRPr/>
            </a:pPr>
            <a:r>
              <a:rPr lang="en-US" sz="3200" baseline="0" dirty="0" smtClean="0">
                <a:solidFill>
                  <a:schemeClr val="tx1"/>
                </a:solidFill>
              </a:rPr>
              <a:t>ARMY RESEARCH LABORATORY</a:t>
            </a:r>
            <a:endParaRPr lang="en-US" sz="3200" dirty="0">
              <a:solidFill>
                <a:schemeClr val="tx1"/>
              </a:solidFill>
            </a:endParaRPr>
          </a:p>
        </p:txBody>
      </p:sp>
      <p:sp>
        <p:nvSpPr>
          <p:cNvPr id="30"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31"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357439527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Black Cover Slide (FOR DIGITAL USE ONLY)">
    <p:bg>
      <p:bgRef idx="1001">
        <a:schemeClr val="bg1"/>
      </p:bgRef>
    </p:bg>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2"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18" name="Rectangle 17"/>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bg1"/>
                </a:solidFill>
              </a:rPr>
              <a:t>U.S. ARMY COMBAT</a:t>
            </a:r>
            <a:r>
              <a:rPr lang="en-US" sz="3200" baseline="0" dirty="0" smtClean="0">
                <a:solidFill>
                  <a:schemeClr val="bg1"/>
                </a:solidFill>
              </a:rPr>
              <a:t> CAPABILITIES DEVELOPMENT COMMAND –</a:t>
            </a:r>
          </a:p>
          <a:p>
            <a:pPr lvl="0">
              <a:lnSpc>
                <a:spcPct val="100000"/>
              </a:lnSpc>
              <a:spcBef>
                <a:spcPts val="0"/>
              </a:spcBef>
              <a:defRPr/>
            </a:pPr>
            <a:r>
              <a:rPr lang="en-US" sz="3200" baseline="0" dirty="0" smtClean="0">
                <a:solidFill>
                  <a:schemeClr val="bg1"/>
                </a:solidFill>
              </a:rPr>
              <a:t>ARMY RESEARCH LABORATORY</a:t>
            </a:r>
            <a:endParaRPr lang="en-US" sz="3200" dirty="0">
              <a:solidFill>
                <a:schemeClr val="bg1"/>
              </a:solidFill>
            </a:endParaRPr>
          </a:p>
        </p:txBody>
      </p:sp>
      <p:sp>
        <p:nvSpPr>
          <p:cNvPr id="19"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0"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21"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22"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3"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29579215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bwMode="auto">
          <a:xfrm>
            <a:off x="442210" y="2286001"/>
            <a:ext cx="8237095" cy="1285874"/>
          </a:xfrm>
          <a:prstGeom prst="rect">
            <a:avLst/>
          </a:prstGeom>
          <a:noFill/>
          <a:ln w="9525">
            <a:noFill/>
            <a:miter lim="800000"/>
            <a:headEnd/>
            <a:tailEnd/>
          </a:ln>
        </p:spPr>
        <p:txBody>
          <a:bodyPr anchor="b"/>
          <a:lstStyle>
            <a:lvl1pPr>
              <a:defRPr sz="3600" cap="none" baseline="0">
                <a:solidFill>
                  <a:schemeClr val="tx1"/>
                </a:solidFill>
              </a:defRPr>
            </a:lvl1pPr>
          </a:lstStyle>
          <a:p>
            <a:pPr lvl="0"/>
            <a:r>
              <a:rPr lang="en-US" dirty="0" smtClean="0"/>
              <a:t>SECTION TITLE GOES HERE</a:t>
            </a:r>
          </a:p>
        </p:txBody>
      </p:sp>
      <p:sp>
        <p:nvSpPr>
          <p:cNvPr id="6" name="Text Placeholder 5"/>
          <p:cNvSpPr>
            <a:spLocks noGrp="1"/>
          </p:cNvSpPr>
          <p:nvPr>
            <p:ph type="body" sz="quarter" idx="12" hasCustomPrompt="1"/>
          </p:nvPr>
        </p:nvSpPr>
        <p:spPr>
          <a:xfrm>
            <a:off x="442210" y="3569973"/>
            <a:ext cx="8237095" cy="854075"/>
          </a:xfrm>
          <a:prstGeom prst="rect">
            <a:avLst/>
          </a:prstGeom>
        </p:spPr>
        <p:txBody>
          <a:bodyPr/>
          <a:lstStyle>
            <a:lvl1pPr>
              <a:defRPr sz="1800" b="0" baseline="0"/>
            </a:lvl1pPr>
          </a:lstStyle>
          <a:p>
            <a:pPr lvl="0"/>
            <a:r>
              <a:rPr lang="en-US" dirty="0" smtClean="0"/>
              <a:t>SECTION TITLE GOES HERE</a:t>
            </a:r>
          </a:p>
        </p:txBody>
      </p:sp>
    </p:spTree>
    <p:extLst>
      <p:ext uri="{BB962C8B-B14F-4D97-AF65-F5344CB8AC3E}">
        <p14:creationId xmlns:p14="http://schemas.microsoft.com/office/powerpoint/2010/main" val="7188617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Column">
    <p:spTree>
      <p:nvGrpSpPr>
        <p:cNvPr id="1" name=""/>
        <p:cNvGrpSpPr/>
        <p:nvPr/>
      </p:nvGrpSpPr>
      <p:grpSpPr>
        <a:xfrm>
          <a:off x="0" y="0"/>
          <a:ext cx="0" cy="0"/>
          <a:chOff x="0" y="0"/>
          <a:chExt cx="0" cy="0"/>
        </a:xfrm>
      </p:grpSpPr>
      <p:sp>
        <p:nvSpPr>
          <p:cNvPr id="7" name="Text Placeholder 2"/>
          <p:cNvSpPr>
            <a:spLocks noGrp="1"/>
          </p:cNvSpPr>
          <p:nvPr>
            <p:ph idx="1" hasCustomPrompt="1"/>
          </p:nvPr>
        </p:nvSpPr>
        <p:spPr bwMode="auto">
          <a:xfrm>
            <a:off x="442210" y="1228725"/>
            <a:ext cx="8094688" cy="4714874"/>
          </a:xfrm>
          <a:prstGeom prst="rect">
            <a:avLst/>
          </a:prstGeom>
          <a:noFill/>
          <a:ln w="9525">
            <a:noFill/>
            <a:miter lim="800000"/>
            <a:headEnd/>
            <a:tailEnd/>
          </a:ln>
        </p:spPr>
        <p:txBody>
          <a:bodyPr/>
          <a:lstStyle>
            <a:lvl1pPr marL="230188" indent="-230188">
              <a:spcBef>
                <a:spcPts val="0"/>
              </a:spcBef>
              <a:buFont typeface="Arial" panose="020B0604020202020204" pitchFamily="34" charset="0"/>
              <a:buChar char="•"/>
              <a:defRPr sz="1800" b="1">
                <a:solidFill>
                  <a:schemeClr val="tx1"/>
                </a:solidFill>
              </a:defRPr>
            </a:lvl1pPr>
            <a:lvl2pPr marL="461963" indent="-233363">
              <a:spcBef>
                <a:spcPts val="0"/>
              </a:spcBef>
              <a:defRPr sz="1600">
                <a:solidFill>
                  <a:schemeClr val="tx1"/>
                </a:solidFill>
              </a:defRPr>
            </a:lvl2pPr>
            <a:lvl3pPr marL="684213" indent="-222250">
              <a:spcBef>
                <a:spcPts val="0"/>
              </a:spcBef>
              <a:spcAft>
                <a:spcPts val="1800"/>
              </a:spcAft>
              <a:defRPr sz="1400">
                <a:solidFill>
                  <a:schemeClr val="tx1"/>
                </a:solidFill>
              </a:defRPr>
            </a:lvl3pPr>
            <a:lvl4pPr>
              <a:defRPr sz="2000">
                <a:solidFill>
                  <a:schemeClr val="tx1"/>
                </a:solidFill>
              </a:defRPr>
            </a:lvl4pPr>
            <a:lvl5pPr>
              <a:defRPr sz="2000">
                <a:solidFill>
                  <a:schemeClr val="tx1"/>
                </a:solidFill>
              </a:defRPr>
            </a:lvl5pPr>
          </a:lstStyle>
          <a:p>
            <a:pPr lvl="0"/>
            <a:r>
              <a:rPr lang="en-US" noProof="0" dirty="0" smtClean="0"/>
              <a:t>First level bullet</a:t>
            </a:r>
          </a:p>
          <a:p>
            <a:pPr lvl="1"/>
            <a:r>
              <a:rPr lang="en-US" noProof="0" dirty="0" smtClean="0"/>
              <a:t>Second level bullet</a:t>
            </a:r>
          </a:p>
          <a:p>
            <a:pPr lvl="2"/>
            <a:r>
              <a:rPr lang="en-US" noProof="0" dirty="0" smtClean="0"/>
              <a:t>Third level bullet</a:t>
            </a:r>
          </a:p>
          <a:p>
            <a:pPr lvl="0"/>
            <a:r>
              <a:rPr lang="en-US" noProof="0" dirty="0" smtClean="0"/>
              <a:t>First level bullet</a:t>
            </a:r>
          </a:p>
          <a:p>
            <a:pPr lvl="1"/>
            <a:r>
              <a:rPr lang="en-US" noProof="0" dirty="0" smtClean="0"/>
              <a:t>Second level bullet</a:t>
            </a:r>
          </a:p>
          <a:p>
            <a:pPr lvl="2"/>
            <a:r>
              <a:rPr lang="en-US" noProof="0" dirty="0" smtClean="0"/>
              <a:t>Third level bullet</a:t>
            </a:r>
          </a:p>
        </p:txBody>
      </p:sp>
      <p:sp>
        <p:nvSpPr>
          <p:cNvPr id="4"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115957352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357447119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_White Cover Slide">
    <p:bg>
      <p:bgRef idx="1001">
        <a:schemeClr val="bg1"/>
      </p:bgRef>
    </p:bg>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2"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18"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19"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0"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21" name="Rectangle 20"/>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tx1"/>
                </a:solidFill>
              </a:rPr>
              <a:t>U.S. ARMY COMBAT</a:t>
            </a:r>
            <a:r>
              <a:rPr lang="en-US" sz="3200" baseline="0" dirty="0" smtClean="0">
                <a:solidFill>
                  <a:schemeClr val="tx1"/>
                </a:solidFill>
              </a:rPr>
              <a:t> CAPABILITIES DEVELOPMENT COMMAND –</a:t>
            </a:r>
          </a:p>
          <a:p>
            <a:pPr lvl="0">
              <a:lnSpc>
                <a:spcPct val="100000"/>
              </a:lnSpc>
              <a:spcBef>
                <a:spcPts val="0"/>
              </a:spcBef>
              <a:defRPr/>
            </a:pPr>
            <a:r>
              <a:rPr lang="en-US" sz="3200" baseline="0" dirty="0" smtClean="0">
                <a:solidFill>
                  <a:schemeClr val="tx1"/>
                </a:solidFill>
              </a:rPr>
              <a:t>ARMY RESEARCH LABORATORY</a:t>
            </a:r>
            <a:endParaRPr lang="en-US" sz="3200" dirty="0">
              <a:solidFill>
                <a:schemeClr val="tx1"/>
              </a:solidFill>
            </a:endParaRPr>
          </a:p>
        </p:txBody>
      </p:sp>
      <p:sp>
        <p:nvSpPr>
          <p:cNvPr id="22"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3"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75693873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Black Cover Slide (FOR DIGITAL USE ONLY)">
    <p:bg>
      <p:bgRef idx="1001">
        <a:schemeClr val="bg1"/>
      </p:bgRef>
    </p:bg>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2"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18" name="Rectangle 17"/>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bg1"/>
                </a:solidFill>
              </a:rPr>
              <a:t>U.S. ARMY COMBAT</a:t>
            </a:r>
            <a:r>
              <a:rPr lang="en-US" sz="3200" baseline="0" dirty="0" smtClean="0">
                <a:solidFill>
                  <a:schemeClr val="bg1"/>
                </a:solidFill>
              </a:rPr>
              <a:t> CAPABILITIES DEVELOPMENT COMMAND –</a:t>
            </a:r>
          </a:p>
          <a:p>
            <a:pPr lvl="0">
              <a:lnSpc>
                <a:spcPct val="100000"/>
              </a:lnSpc>
              <a:spcBef>
                <a:spcPts val="0"/>
              </a:spcBef>
              <a:defRPr/>
            </a:pPr>
            <a:r>
              <a:rPr lang="en-US" sz="3200" baseline="0" dirty="0" smtClean="0">
                <a:solidFill>
                  <a:schemeClr val="bg1"/>
                </a:solidFill>
              </a:rPr>
              <a:t>ARMY RESEARCH LABORATORY</a:t>
            </a:r>
            <a:endParaRPr lang="en-US" sz="3200" dirty="0">
              <a:solidFill>
                <a:schemeClr val="bg1"/>
              </a:solidFill>
            </a:endParaRPr>
          </a:p>
        </p:txBody>
      </p:sp>
      <p:sp>
        <p:nvSpPr>
          <p:cNvPr id="19"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0"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21"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22"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3"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138712361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bwMode="auto">
          <a:xfrm>
            <a:off x="442210" y="2286001"/>
            <a:ext cx="8237095" cy="1285874"/>
          </a:xfrm>
          <a:prstGeom prst="rect">
            <a:avLst/>
          </a:prstGeom>
          <a:noFill/>
          <a:ln w="9525">
            <a:noFill/>
            <a:miter lim="800000"/>
            <a:headEnd/>
            <a:tailEnd/>
          </a:ln>
        </p:spPr>
        <p:txBody>
          <a:bodyPr anchor="b"/>
          <a:lstStyle>
            <a:lvl1pPr>
              <a:defRPr sz="3600" cap="none" baseline="0">
                <a:solidFill>
                  <a:schemeClr val="tx1"/>
                </a:solidFill>
              </a:defRPr>
            </a:lvl1pPr>
          </a:lstStyle>
          <a:p>
            <a:pPr lvl="0"/>
            <a:r>
              <a:rPr lang="en-US" dirty="0" smtClean="0"/>
              <a:t>SECTION TITLE GOES HERE</a:t>
            </a:r>
          </a:p>
        </p:txBody>
      </p:sp>
      <p:sp>
        <p:nvSpPr>
          <p:cNvPr id="6" name="Text Placeholder 5"/>
          <p:cNvSpPr>
            <a:spLocks noGrp="1"/>
          </p:cNvSpPr>
          <p:nvPr>
            <p:ph type="body" sz="quarter" idx="12" hasCustomPrompt="1"/>
          </p:nvPr>
        </p:nvSpPr>
        <p:spPr>
          <a:xfrm>
            <a:off x="442210" y="3569973"/>
            <a:ext cx="8237095" cy="854075"/>
          </a:xfrm>
          <a:prstGeom prst="rect">
            <a:avLst/>
          </a:prstGeom>
        </p:spPr>
        <p:txBody>
          <a:bodyPr/>
          <a:lstStyle>
            <a:lvl1pPr>
              <a:defRPr sz="1800" b="0"/>
            </a:lvl1pPr>
          </a:lstStyle>
          <a:p>
            <a:pPr lvl="0"/>
            <a:r>
              <a:rPr lang="en-US" dirty="0" smtClean="0"/>
              <a:t>SECTION TITLE GOES HERE</a:t>
            </a:r>
          </a:p>
        </p:txBody>
      </p:sp>
    </p:spTree>
    <p:extLst>
      <p:ext uri="{BB962C8B-B14F-4D97-AF65-F5344CB8AC3E}">
        <p14:creationId xmlns:p14="http://schemas.microsoft.com/office/powerpoint/2010/main" val="210560928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One Column">
    <p:spTree>
      <p:nvGrpSpPr>
        <p:cNvPr id="1" name=""/>
        <p:cNvGrpSpPr/>
        <p:nvPr/>
      </p:nvGrpSpPr>
      <p:grpSpPr>
        <a:xfrm>
          <a:off x="0" y="0"/>
          <a:ext cx="0" cy="0"/>
          <a:chOff x="0" y="0"/>
          <a:chExt cx="0" cy="0"/>
        </a:xfrm>
      </p:grpSpPr>
      <p:sp>
        <p:nvSpPr>
          <p:cNvPr id="7" name="Text Placeholder 2"/>
          <p:cNvSpPr>
            <a:spLocks noGrp="1"/>
          </p:cNvSpPr>
          <p:nvPr>
            <p:ph idx="1" hasCustomPrompt="1"/>
          </p:nvPr>
        </p:nvSpPr>
        <p:spPr bwMode="auto">
          <a:xfrm>
            <a:off x="442210" y="1228725"/>
            <a:ext cx="8094688" cy="4714874"/>
          </a:xfrm>
          <a:prstGeom prst="rect">
            <a:avLst/>
          </a:prstGeom>
          <a:noFill/>
          <a:ln w="9525">
            <a:noFill/>
            <a:miter lim="800000"/>
            <a:headEnd/>
            <a:tailEnd/>
          </a:ln>
        </p:spPr>
        <p:txBody>
          <a:bodyPr/>
          <a:lstStyle>
            <a:lvl1pPr marL="230188" indent="-230188">
              <a:spcBef>
                <a:spcPts val="0"/>
              </a:spcBef>
              <a:buFont typeface="Arial" panose="020B0604020202020204" pitchFamily="34" charset="0"/>
              <a:buChar char="•"/>
              <a:defRPr sz="1800" b="1">
                <a:solidFill>
                  <a:schemeClr val="tx1"/>
                </a:solidFill>
              </a:defRPr>
            </a:lvl1pPr>
            <a:lvl2pPr marL="461963" indent="-233363">
              <a:spcBef>
                <a:spcPts val="0"/>
              </a:spcBef>
              <a:defRPr sz="1600">
                <a:solidFill>
                  <a:schemeClr val="tx1"/>
                </a:solidFill>
              </a:defRPr>
            </a:lvl2pPr>
            <a:lvl3pPr marL="684213" indent="-222250">
              <a:spcBef>
                <a:spcPts val="0"/>
              </a:spcBef>
              <a:spcAft>
                <a:spcPts val="1800"/>
              </a:spcAft>
              <a:defRPr sz="1400">
                <a:solidFill>
                  <a:schemeClr val="tx1"/>
                </a:solidFill>
              </a:defRPr>
            </a:lvl3pPr>
            <a:lvl4pPr>
              <a:defRPr sz="2000">
                <a:solidFill>
                  <a:schemeClr val="tx1"/>
                </a:solidFill>
              </a:defRPr>
            </a:lvl4pPr>
            <a:lvl5pPr>
              <a:defRPr sz="2000">
                <a:solidFill>
                  <a:schemeClr val="tx1"/>
                </a:solidFill>
              </a:defRPr>
            </a:lvl5pPr>
          </a:lstStyle>
          <a:p>
            <a:pPr lvl="0"/>
            <a:r>
              <a:rPr lang="en-US" noProof="0" dirty="0" smtClean="0"/>
              <a:t>First level bullet</a:t>
            </a:r>
          </a:p>
          <a:p>
            <a:pPr lvl="1"/>
            <a:r>
              <a:rPr lang="en-US" noProof="0" dirty="0" smtClean="0"/>
              <a:t>Second level bullet</a:t>
            </a:r>
          </a:p>
          <a:p>
            <a:pPr lvl="2"/>
            <a:r>
              <a:rPr lang="en-US" noProof="0" dirty="0" smtClean="0"/>
              <a:t>Third level bullet</a:t>
            </a:r>
          </a:p>
          <a:p>
            <a:pPr lvl="0"/>
            <a:r>
              <a:rPr lang="en-US" noProof="0" dirty="0" smtClean="0"/>
              <a:t>First level bullet</a:t>
            </a:r>
          </a:p>
          <a:p>
            <a:pPr lvl="1"/>
            <a:r>
              <a:rPr lang="en-US" noProof="0" dirty="0" smtClean="0"/>
              <a:t>Second level bullet</a:t>
            </a:r>
          </a:p>
          <a:p>
            <a:pPr lvl="2"/>
            <a:r>
              <a:rPr lang="en-US" noProof="0" dirty="0" smtClean="0"/>
              <a:t>Third level bullet</a:t>
            </a:r>
          </a:p>
        </p:txBody>
      </p:sp>
      <p:sp>
        <p:nvSpPr>
          <p:cNvPr id="4"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31134440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18325822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White Cover Slide">
    <p:bg>
      <p:bgRef idx="1001">
        <a:schemeClr val="bg1"/>
      </p:bgRef>
    </p:bg>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a:t>
            </a:r>
            <a:r>
              <a:rPr lang="en-US" sz="800" baseline="0" dirty="0" smtClean="0">
                <a:solidFill>
                  <a:schemeClr val="accent2"/>
                </a:solidFill>
                <a:latin typeface="Arial Bold" panose="020B0704020202020204" pitchFamily="34" charset="0"/>
                <a:cs typeface="Arial Bold" panose="020B0704020202020204" pitchFamily="34" charset="0"/>
              </a:rPr>
              <a:t>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a:t>
            </a:r>
            <a:r>
              <a:rPr lang="en-US" sz="800" baseline="0" dirty="0" smtClean="0">
                <a:solidFill>
                  <a:schemeClr val="accent2"/>
                </a:solidFill>
                <a:latin typeface="Arial Bold" panose="020B0704020202020204" pitchFamily="34" charset="0"/>
                <a:cs typeface="Arial Bold" panose="020B0704020202020204" pitchFamily="34" charset="0"/>
              </a:rPr>
              <a:t>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2"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18"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19"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0"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21" name="Rectangle 20"/>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tx1"/>
                </a:solidFill>
              </a:rPr>
              <a:t>U.S. ARMY COMBAT</a:t>
            </a:r>
            <a:r>
              <a:rPr lang="en-US" sz="3200" baseline="0" dirty="0" smtClean="0">
                <a:solidFill>
                  <a:schemeClr val="tx1"/>
                </a:solidFill>
              </a:rPr>
              <a:t> CAPABILITIES DEVELOPMENT COMMAND –</a:t>
            </a:r>
          </a:p>
          <a:p>
            <a:pPr lvl="0">
              <a:lnSpc>
                <a:spcPct val="100000"/>
              </a:lnSpc>
              <a:spcBef>
                <a:spcPts val="0"/>
              </a:spcBef>
              <a:defRPr/>
            </a:pPr>
            <a:r>
              <a:rPr lang="en-US" sz="3200" baseline="0" dirty="0" smtClean="0">
                <a:solidFill>
                  <a:schemeClr val="tx1"/>
                </a:solidFill>
              </a:rPr>
              <a:t>ARMY RESEARCH LABORATORY</a:t>
            </a:r>
            <a:endParaRPr lang="en-US" sz="3200" dirty="0">
              <a:solidFill>
                <a:schemeClr val="tx1"/>
              </a:solidFill>
            </a:endParaRPr>
          </a:p>
        </p:txBody>
      </p:sp>
      <p:sp>
        <p:nvSpPr>
          <p:cNvPr id="22"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tx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3"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199261711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Black Cover Slide (FOR DIGITAL USE ONLY)">
    <p:bg>
      <p:bgRef idx="1001">
        <a:schemeClr val="bg1"/>
      </p:bgRef>
    </p:bg>
    <p:spTree>
      <p:nvGrpSpPr>
        <p:cNvPr id="1" name=""/>
        <p:cNvGrpSpPr/>
        <p:nvPr/>
      </p:nvGrpSpPr>
      <p:grpSpPr>
        <a:xfrm>
          <a:off x="0" y="0"/>
          <a:ext cx="0" cy="0"/>
          <a:chOff x="0" y="0"/>
          <a:chExt cx="0" cy="0"/>
        </a:xfrm>
      </p:grpSpPr>
      <p:pic>
        <p:nvPicPr>
          <p:cNvPr id="25" name="Picture 24"/>
          <p:cNvPicPr>
            <a:picLocks noChangeAspect="1"/>
          </p:cNvPicPr>
          <p:nvPr userDrawn="1"/>
        </p:nvPicPr>
        <p:blipFill>
          <a:blip r:embed="rId2"/>
          <a:stretch>
            <a:fillRect/>
          </a:stretch>
        </p:blipFill>
        <p:spPr>
          <a:xfrm>
            <a:off x="0" y="3048"/>
            <a:ext cx="9144000" cy="6851904"/>
          </a:xfrm>
          <a:prstGeom prst="rect">
            <a:avLst/>
          </a:prstGeom>
        </p:spPr>
      </p:pic>
      <p:sp>
        <p:nvSpPr>
          <p:cNvPr id="8"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9"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2" name="Text Placeholder 7"/>
          <p:cNvSpPr>
            <a:spLocks noGrp="1"/>
          </p:cNvSpPr>
          <p:nvPr>
            <p:ph type="body" sz="quarter" idx="17" hasCustomPrompt="1"/>
          </p:nvPr>
        </p:nvSpPr>
        <p:spPr>
          <a:xfrm>
            <a:off x="306338" y="6487064"/>
            <a:ext cx="2014168" cy="366939"/>
          </a:xfrm>
          <a:prstGeom prst="rect">
            <a:avLst/>
          </a:prstGeom>
          <a:noFill/>
          <a:ln w="9525">
            <a:noFill/>
            <a:miter lim="800000"/>
            <a:headEnd/>
            <a:tailEnd/>
          </a:ln>
        </p:spPr>
        <p:txBody>
          <a:bodyPr/>
          <a:lstStyle>
            <a:lvl1pPr algn="l" rtl="0" fontAlgn="base">
              <a:lnSpc>
                <a:spcPts val="2000"/>
              </a:lnSpc>
              <a:spcBef>
                <a:spcPct val="0"/>
              </a:spcBef>
              <a:spcAft>
                <a:spcPct val="0"/>
              </a:spcAft>
              <a:defRPr lang="en-US" sz="800" kern="1200" baseline="0" dirty="0" smtClean="0">
                <a:solidFill>
                  <a:schemeClr val="accent2"/>
                </a:solidFill>
                <a:latin typeface="Arial Bold" panose="020B0704020202020204" pitchFamily="34" charset="0"/>
                <a:ea typeface="ＭＳ Ｐゴシック" charset="-128"/>
                <a:cs typeface="Arial Bold" panose="020B0704020202020204"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DD MMM YYYY</a:t>
            </a:r>
          </a:p>
        </p:txBody>
      </p:sp>
      <p:sp>
        <p:nvSpPr>
          <p:cNvPr id="18" name="Rectangle 17"/>
          <p:cNvSpPr/>
          <p:nvPr userDrawn="1"/>
        </p:nvSpPr>
        <p:spPr>
          <a:xfrm>
            <a:off x="306338" y="2440244"/>
            <a:ext cx="7740000" cy="1569660"/>
          </a:xfrm>
          <a:prstGeom prst="rect">
            <a:avLst/>
          </a:prstGeom>
        </p:spPr>
        <p:txBody>
          <a:bodyPr wrap="square">
            <a:spAutoFit/>
          </a:bodyPr>
          <a:lstStyle/>
          <a:p>
            <a:pPr lvl="0">
              <a:lnSpc>
                <a:spcPct val="100000"/>
              </a:lnSpc>
              <a:spcBef>
                <a:spcPts val="0"/>
              </a:spcBef>
              <a:defRPr/>
            </a:pPr>
            <a:r>
              <a:rPr lang="en-US" sz="3200" dirty="0" smtClean="0">
                <a:solidFill>
                  <a:schemeClr val="bg1"/>
                </a:solidFill>
              </a:rPr>
              <a:t>U.S. ARMY COMBAT</a:t>
            </a:r>
            <a:r>
              <a:rPr lang="en-US" sz="3200" baseline="0" dirty="0" smtClean="0">
                <a:solidFill>
                  <a:schemeClr val="bg1"/>
                </a:solidFill>
              </a:rPr>
              <a:t> CAPABILITIES DEVELOPMENT COMMAND –</a:t>
            </a:r>
          </a:p>
          <a:p>
            <a:pPr lvl="0">
              <a:lnSpc>
                <a:spcPct val="100000"/>
              </a:lnSpc>
              <a:spcBef>
                <a:spcPts val="0"/>
              </a:spcBef>
              <a:defRPr/>
            </a:pPr>
            <a:r>
              <a:rPr lang="en-US" sz="3200" baseline="0" dirty="0" smtClean="0">
                <a:solidFill>
                  <a:schemeClr val="bg1"/>
                </a:solidFill>
              </a:rPr>
              <a:t>ARMY RESEARCH LABORATORY</a:t>
            </a:r>
            <a:endParaRPr lang="en-US" sz="3200" dirty="0">
              <a:solidFill>
                <a:schemeClr val="bg1"/>
              </a:solidFill>
            </a:endParaRPr>
          </a:p>
        </p:txBody>
      </p:sp>
      <p:sp>
        <p:nvSpPr>
          <p:cNvPr id="19" name="Text Placeholder 7"/>
          <p:cNvSpPr>
            <a:spLocks noGrp="1"/>
          </p:cNvSpPr>
          <p:nvPr>
            <p:ph type="body" sz="quarter" idx="12" hasCustomPrompt="1"/>
          </p:nvPr>
        </p:nvSpPr>
        <p:spPr>
          <a:xfrm>
            <a:off x="306338" y="4379765"/>
            <a:ext cx="7740000" cy="450784"/>
          </a:xfrm>
          <a:prstGeom prst="rect">
            <a:avLst/>
          </a:prstGeom>
          <a:noFill/>
          <a:ln w="9525">
            <a:noFill/>
            <a:miter lim="800000"/>
            <a:headEnd/>
            <a:tailEnd/>
          </a:ln>
        </p:spPr>
        <p:txBody>
          <a:bodyPr anchor="t"/>
          <a:lstStyle>
            <a:lvl1pPr>
              <a:lnSpc>
                <a:spcPts val="2000"/>
              </a:lnSpc>
              <a:defRPr lang="en-US" sz="20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SUBTITLE GOES HERE</a:t>
            </a:r>
            <a:endParaRPr lang="en-US" b="0" dirty="0"/>
          </a:p>
        </p:txBody>
      </p:sp>
      <p:sp>
        <p:nvSpPr>
          <p:cNvPr id="20" name="Text Placeholder 7"/>
          <p:cNvSpPr>
            <a:spLocks noGrp="1"/>
          </p:cNvSpPr>
          <p:nvPr>
            <p:ph type="body" sz="quarter" idx="13" hasCustomPrompt="1"/>
          </p:nvPr>
        </p:nvSpPr>
        <p:spPr>
          <a:xfrm>
            <a:off x="306338" y="5376077"/>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Name of Presenter</a:t>
            </a:r>
          </a:p>
        </p:txBody>
      </p:sp>
      <p:sp>
        <p:nvSpPr>
          <p:cNvPr id="21" name="Text Placeholder 7"/>
          <p:cNvSpPr>
            <a:spLocks noGrp="1"/>
          </p:cNvSpPr>
          <p:nvPr>
            <p:ph type="body" sz="quarter" idx="14" hasCustomPrompt="1"/>
          </p:nvPr>
        </p:nvSpPr>
        <p:spPr>
          <a:xfrm>
            <a:off x="306338" y="5671676"/>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Rank/Title of Presenter</a:t>
            </a:r>
          </a:p>
        </p:txBody>
      </p:sp>
      <p:sp>
        <p:nvSpPr>
          <p:cNvPr id="22" name="Text Placeholder 7"/>
          <p:cNvSpPr>
            <a:spLocks noGrp="1"/>
          </p:cNvSpPr>
          <p:nvPr>
            <p:ph type="body" sz="quarter" idx="15" hasCustomPrompt="1"/>
          </p:nvPr>
        </p:nvSpPr>
        <p:spPr>
          <a:xfrm>
            <a:off x="306338" y="5967274"/>
            <a:ext cx="5925786" cy="355893"/>
          </a:xfrm>
          <a:prstGeom prst="rect">
            <a:avLst/>
          </a:prstGeom>
          <a:noFill/>
          <a:ln w="9525">
            <a:noFill/>
            <a:miter lim="800000"/>
            <a:headEnd/>
            <a:tailEnd/>
          </a:ln>
        </p:spPr>
        <p:txBody>
          <a:bodyPr anchor="ctr"/>
          <a:lstStyle>
            <a:lvl1pPr>
              <a:lnSpc>
                <a:spcPts val="2000"/>
              </a:lnSpc>
              <a:defRPr lang="en-US" sz="1200" b="0" kern="1200" baseline="0" dirty="0" smtClean="0">
                <a:solidFill>
                  <a:schemeClr val="bg1"/>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Organization of Presenter</a:t>
            </a:r>
          </a:p>
        </p:txBody>
      </p:sp>
      <p:sp>
        <p:nvSpPr>
          <p:cNvPr id="23" name="Text Placeholder 7"/>
          <p:cNvSpPr>
            <a:spLocks noGrp="1"/>
          </p:cNvSpPr>
          <p:nvPr>
            <p:ph type="body" sz="quarter" idx="18" hasCustomPrompt="1"/>
          </p:nvPr>
        </p:nvSpPr>
        <p:spPr>
          <a:xfrm>
            <a:off x="6738151" y="5495277"/>
            <a:ext cx="1997476" cy="701337"/>
          </a:xfrm>
          <a:prstGeom prst="rect">
            <a:avLst/>
          </a:prstGeom>
          <a:noFill/>
          <a:ln w="9525">
            <a:solidFill>
              <a:schemeClr val="accent2"/>
            </a:solidFill>
            <a:miter lim="800000"/>
            <a:headEnd/>
            <a:tailEnd/>
          </a:ln>
        </p:spPr>
        <p:txBody>
          <a:bodyPr wrap="square" lIns="182880" tIns="91440" rIns="182880" bIns="91440" anchor="ctr"/>
          <a:lstStyle>
            <a:lvl1pPr algn="ctr">
              <a:lnSpc>
                <a:spcPct val="100000"/>
              </a:lnSpc>
              <a:defRPr lang="en-US" sz="600" b="0" kern="1200" baseline="0" dirty="0" smtClean="0">
                <a:solidFill>
                  <a:schemeClr val="accent2"/>
                </a:solidFill>
                <a:latin typeface="Arial" pitchFamily="34" charset="0"/>
                <a:ea typeface="+mn-ea"/>
                <a:cs typeface="Arial" pitchFamily="34" charset="0"/>
              </a:defRPr>
            </a:lvl1pPr>
            <a:lvl2pPr>
              <a:defRPr lang="en-US" sz="2000" kern="1200" dirty="0" smtClean="0">
                <a:solidFill>
                  <a:srgbClr val="D8D8D8"/>
                </a:solidFill>
                <a:latin typeface="Arial" pitchFamily="34" charset="0"/>
                <a:ea typeface="+mn-ea"/>
                <a:cs typeface="Arial" pitchFamily="34" charset="0"/>
              </a:defRPr>
            </a:lvl2pPr>
            <a:lvl3pPr>
              <a:defRPr lang="en-US" sz="2000" kern="1200" dirty="0" smtClean="0">
                <a:solidFill>
                  <a:srgbClr val="D8D8D8"/>
                </a:solidFill>
                <a:latin typeface="Arial" pitchFamily="34" charset="0"/>
                <a:ea typeface="+mn-ea"/>
                <a:cs typeface="Arial" pitchFamily="34" charset="0"/>
              </a:defRPr>
            </a:lvl3pPr>
            <a:lvl4pPr>
              <a:defRPr lang="en-US" sz="2000" kern="1200" dirty="0" smtClean="0">
                <a:solidFill>
                  <a:srgbClr val="D8D8D8"/>
                </a:solidFill>
                <a:latin typeface="Arial" pitchFamily="34" charset="0"/>
                <a:ea typeface="+mn-ea"/>
                <a:cs typeface="Arial" pitchFamily="34" charset="0"/>
              </a:defRPr>
            </a:lvl4pPr>
            <a:lvl5pPr>
              <a:defRPr lang="en-US" sz="2000" kern="1200" dirty="0" smtClean="0">
                <a:solidFill>
                  <a:srgbClr val="D8D8D8"/>
                </a:solidFill>
                <a:latin typeface="Arial" pitchFamily="34" charset="0"/>
                <a:ea typeface="+mn-ea"/>
                <a:cs typeface="Arial" pitchFamily="34" charset="0"/>
              </a:defRPr>
            </a:lvl5pPr>
          </a:lstStyle>
          <a:p>
            <a:pPr marL="0" indent="0">
              <a:defRPr/>
            </a:pPr>
            <a:r>
              <a:rPr lang="en-US" b="0" dirty="0" smtClean="0"/>
              <a:t>DISTRIBUTION STATEMENT GOES HERE</a:t>
            </a:r>
          </a:p>
        </p:txBody>
      </p:sp>
    </p:spTree>
    <p:extLst>
      <p:ext uri="{BB962C8B-B14F-4D97-AF65-F5344CB8AC3E}">
        <p14:creationId xmlns:p14="http://schemas.microsoft.com/office/powerpoint/2010/main" val="42500576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bwMode="auto">
          <a:xfrm>
            <a:off x="442210" y="2286001"/>
            <a:ext cx="8237095" cy="1285874"/>
          </a:xfrm>
          <a:prstGeom prst="rect">
            <a:avLst/>
          </a:prstGeom>
          <a:noFill/>
          <a:ln w="9525">
            <a:noFill/>
            <a:miter lim="800000"/>
            <a:headEnd/>
            <a:tailEnd/>
          </a:ln>
        </p:spPr>
        <p:txBody>
          <a:bodyPr anchor="b"/>
          <a:lstStyle>
            <a:lvl1pPr>
              <a:defRPr sz="3600" cap="none" baseline="0">
                <a:solidFill>
                  <a:schemeClr val="tx1"/>
                </a:solidFill>
              </a:defRPr>
            </a:lvl1pPr>
          </a:lstStyle>
          <a:p>
            <a:pPr lvl="0"/>
            <a:r>
              <a:rPr lang="en-US" dirty="0" smtClean="0"/>
              <a:t>SECTION TITLE GOES HERE</a:t>
            </a:r>
          </a:p>
        </p:txBody>
      </p:sp>
      <p:sp>
        <p:nvSpPr>
          <p:cNvPr id="6" name="Text Placeholder 5"/>
          <p:cNvSpPr>
            <a:spLocks noGrp="1"/>
          </p:cNvSpPr>
          <p:nvPr>
            <p:ph type="body" sz="quarter" idx="12" hasCustomPrompt="1"/>
          </p:nvPr>
        </p:nvSpPr>
        <p:spPr>
          <a:xfrm>
            <a:off x="442210" y="3569973"/>
            <a:ext cx="8237095" cy="854075"/>
          </a:xfrm>
          <a:prstGeom prst="rect">
            <a:avLst/>
          </a:prstGeom>
        </p:spPr>
        <p:txBody>
          <a:bodyPr/>
          <a:lstStyle>
            <a:lvl1pPr>
              <a:defRPr sz="1800" b="0"/>
            </a:lvl1pPr>
          </a:lstStyle>
          <a:p>
            <a:pPr lvl="0"/>
            <a:r>
              <a:rPr lang="en-US" dirty="0" smtClean="0"/>
              <a:t>SECTION TITLE GOES HERE</a:t>
            </a:r>
          </a:p>
        </p:txBody>
      </p:sp>
    </p:spTree>
    <p:extLst>
      <p:ext uri="{BB962C8B-B14F-4D97-AF65-F5344CB8AC3E}">
        <p14:creationId xmlns:p14="http://schemas.microsoft.com/office/powerpoint/2010/main" val="2149176908"/>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One Column">
    <p:spTree>
      <p:nvGrpSpPr>
        <p:cNvPr id="1" name=""/>
        <p:cNvGrpSpPr/>
        <p:nvPr/>
      </p:nvGrpSpPr>
      <p:grpSpPr>
        <a:xfrm>
          <a:off x="0" y="0"/>
          <a:ext cx="0" cy="0"/>
          <a:chOff x="0" y="0"/>
          <a:chExt cx="0" cy="0"/>
        </a:xfrm>
      </p:grpSpPr>
      <p:sp>
        <p:nvSpPr>
          <p:cNvPr id="7" name="Text Placeholder 2"/>
          <p:cNvSpPr>
            <a:spLocks noGrp="1"/>
          </p:cNvSpPr>
          <p:nvPr>
            <p:ph idx="1" hasCustomPrompt="1"/>
          </p:nvPr>
        </p:nvSpPr>
        <p:spPr bwMode="auto">
          <a:xfrm>
            <a:off x="442210" y="1228725"/>
            <a:ext cx="8094688" cy="4714874"/>
          </a:xfrm>
          <a:prstGeom prst="rect">
            <a:avLst/>
          </a:prstGeom>
          <a:noFill/>
          <a:ln w="9525">
            <a:noFill/>
            <a:miter lim="800000"/>
            <a:headEnd/>
            <a:tailEnd/>
          </a:ln>
        </p:spPr>
        <p:txBody>
          <a:bodyPr/>
          <a:lstStyle>
            <a:lvl1pPr marL="230188" indent="-230188">
              <a:spcBef>
                <a:spcPts val="0"/>
              </a:spcBef>
              <a:buFont typeface="Arial" panose="020B0604020202020204" pitchFamily="34" charset="0"/>
              <a:buChar char="•"/>
              <a:defRPr sz="1800" b="1">
                <a:solidFill>
                  <a:schemeClr val="tx1"/>
                </a:solidFill>
              </a:defRPr>
            </a:lvl1pPr>
            <a:lvl2pPr marL="461963" indent="-233363">
              <a:spcBef>
                <a:spcPts val="0"/>
              </a:spcBef>
              <a:defRPr sz="1600">
                <a:solidFill>
                  <a:schemeClr val="tx1"/>
                </a:solidFill>
              </a:defRPr>
            </a:lvl2pPr>
            <a:lvl3pPr marL="684213" indent="-222250">
              <a:spcBef>
                <a:spcPts val="0"/>
              </a:spcBef>
              <a:spcAft>
                <a:spcPts val="1800"/>
              </a:spcAft>
              <a:defRPr sz="1400">
                <a:solidFill>
                  <a:schemeClr val="tx1"/>
                </a:solidFill>
              </a:defRPr>
            </a:lvl3pPr>
            <a:lvl4pPr>
              <a:defRPr sz="2000">
                <a:solidFill>
                  <a:schemeClr val="tx1"/>
                </a:solidFill>
              </a:defRPr>
            </a:lvl4pPr>
            <a:lvl5pPr>
              <a:defRPr sz="2000">
                <a:solidFill>
                  <a:schemeClr val="tx1"/>
                </a:solidFill>
              </a:defRPr>
            </a:lvl5pPr>
          </a:lstStyle>
          <a:p>
            <a:pPr lvl="0"/>
            <a:r>
              <a:rPr lang="en-US" noProof="0" dirty="0" smtClean="0"/>
              <a:t>First level bullet</a:t>
            </a:r>
          </a:p>
          <a:p>
            <a:pPr lvl="1"/>
            <a:r>
              <a:rPr lang="en-US" noProof="0" dirty="0" smtClean="0"/>
              <a:t>Second level bullet</a:t>
            </a:r>
          </a:p>
          <a:p>
            <a:pPr lvl="2"/>
            <a:r>
              <a:rPr lang="en-US" noProof="0" dirty="0" smtClean="0"/>
              <a:t>Third level bullet</a:t>
            </a:r>
          </a:p>
          <a:p>
            <a:pPr lvl="0"/>
            <a:r>
              <a:rPr lang="en-US" noProof="0" dirty="0" smtClean="0"/>
              <a:t>First level bullet</a:t>
            </a:r>
          </a:p>
          <a:p>
            <a:pPr lvl="1"/>
            <a:r>
              <a:rPr lang="en-US" noProof="0" dirty="0" smtClean="0"/>
              <a:t>Second level bullet</a:t>
            </a:r>
          </a:p>
          <a:p>
            <a:pPr lvl="2"/>
            <a:r>
              <a:rPr lang="en-US" noProof="0" dirty="0" smtClean="0"/>
              <a:t>Third level bullet</a:t>
            </a:r>
          </a:p>
        </p:txBody>
      </p:sp>
      <p:sp>
        <p:nvSpPr>
          <p:cNvPr id="4"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101136159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bwMode="auto">
          <a:xfrm>
            <a:off x="1442419" y="274639"/>
            <a:ext cx="5941019" cy="50641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000" b="1"/>
            </a:lvl1pPr>
          </a:lstStyle>
          <a:p>
            <a:pPr lvl="0"/>
            <a:r>
              <a:rPr lang="en-US" dirty="0" smtClean="0"/>
              <a:t>Click to edit Master title text </a:t>
            </a:r>
          </a:p>
        </p:txBody>
      </p:sp>
    </p:spTree>
    <p:extLst>
      <p:ext uri="{BB962C8B-B14F-4D97-AF65-F5344CB8AC3E}">
        <p14:creationId xmlns:p14="http://schemas.microsoft.com/office/powerpoint/2010/main" val="338045203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7"/>
          <a:stretch>
            <a:fillRect/>
          </a:stretch>
        </p:blipFill>
        <p:spPr>
          <a:xfrm>
            <a:off x="0" y="3048"/>
            <a:ext cx="9144000" cy="6851904"/>
          </a:xfrm>
          <a:prstGeom prst="rect">
            <a:avLst/>
          </a:prstGeom>
        </p:spPr>
      </p:pic>
      <p:sp>
        <p:nvSpPr>
          <p:cNvPr id="9"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1"/>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1"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r>
              <a:rPr lang="en-US" sz="800" b="0" dirty="0" smtClean="0">
                <a:solidFill>
                  <a:schemeClr val="accent1"/>
                </a:solidFill>
                <a:latin typeface="Arial Bold" panose="020B0704020202020204" pitchFamily="34" charset="0"/>
                <a:cs typeface="Arial Bold" panose="020B0704020202020204" pitchFamily="34" charset="0"/>
              </a:rPr>
              <a:t>DRAFT</a:t>
            </a:r>
            <a:r>
              <a:rPr lang="en-US" sz="800" dirty="0" smtClean="0">
                <a:solidFill>
                  <a:schemeClr val="accent2"/>
                </a:solidFill>
                <a:latin typeface="Arial Bold" panose="020B0704020202020204" pitchFamily="34" charset="0"/>
                <a:cs typeface="Arial Bold" panose="020B0704020202020204" pitchFamily="34" charset="0"/>
              </a:rPr>
              <a:t>//PRE-DECISIONAL</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9" name="TextBox 18"/>
          <p:cNvSpPr txBox="1"/>
          <p:nvPr userDrawn="1"/>
        </p:nvSpPr>
        <p:spPr>
          <a:xfrm>
            <a:off x="8735627" y="6636780"/>
            <a:ext cx="417459" cy="215444"/>
          </a:xfrm>
          <a:prstGeom prst="rect">
            <a:avLst/>
          </a:prstGeom>
          <a:noFill/>
        </p:spPr>
        <p:txBody>
          <a:bodyPr wrap="square" rtlCol="0">
            <a:spAutoFit/>
          </a:bodyPr>
          <a:lstStyle/>
          <a:p>
            <a:pPr algn="r"/>
            <a:fld id="{96AD103F-80C8-4104-B396-731727462289}" type="slidenum">
              <a:rPr lang="en-US" sz="800" b="1" smtClean="0">
                <a:solidFill>
                  <a:schemeClr val="accent2"/>
                </a:solidFill>
              </a:rPr>
              <a:pPr algn="r"/>
              <a:t>‹#›</a:t>
            </a:fld>
            <a:endParaRPr lang="en-US" sz="800" b="1" dirty="0">
              <a:solidFill>
                <a:schemeClr val="accent2"/>
              </a:solidFill>
            </a:endParaRPr>
          </a:p>
        </p:txBody>
      </p:sp>
    </p:spTree>
    <p:extLst>
      <p:ext uri="{BB962C8B-B14F-4D97-AF65-F5344CB8AC3E}">
        <p14:creationId xmlns:p14="http://schemas.microsoft.com/office/powerpoint/2010/main" val="4090489922"/>
      </p:ext>
    </p:extLst>
  </p:cSld>
  <p:clrMap bg1="lt1" tx1="dk1" bg2="lt2" tx2="dk2" accent1="accent1" accent2="accent2" accent3="accent3" accent4="accent4" accent5="accent5" accent6="accent6" hlink="hlink" folHlink="folHlink"/>
  <p:sldLayoutIdLst>
    <p:sldLayoutId id="2147484215" r:id="rId1"/>
    <p:sldLayoutId id="2147484188" r:id="rId2"/>
    <p:sldLayoutId id="2147484189" r:id="rId3"/>
    <p:sldLayoutId id="2147484190" r:id="rId4"/>
    <p:sldLayoutId id="2147484192" r:id="rId5"/>
  </p:sldLayoutIdLst>
  <p:timing>
    <p:tnLst>
      <p:par>
        <p:cTn id="1" dur="indefinite" restart="never" nodeType="tmRoot"/>
      </p:par>
    </p:tnLst>
  </p:timing>
  <p:hf hdr="0" ftr="0"/>
  <p:txStyles>
    <p:titleStyle>
      <a:lvl1pPr algn="l" rtl="0" eaLnBrk="1" fontAlgn="base" hangingPunct="1">
        <a:spcBef>
          <a:spcPct val="0"/>
        </a:spcBef>
        <a:spcAft>
          <a:spcPct val="0"/>
        </a:spcAft>
        <a:defRPr sz="2400" b="0" kern="1200" cap="all">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5pPr>
      <a:lvl6pPr marL="457200" algn="l" rtl="0" eaLnBrk="1" fontAlgn="base" hangingPunct="1">
        <a:spcBef>
          <a:spcPct val="0"/>
        </a:spcBef>
        <a:spcAft>
          <a:spcPct val="0"/>
        </a:spcAft>
        <a:defRPr sz="4400">
          <a:solidFill>
            <a:schemeClr val="tx1"/>
          </a:solidFill>
          <a:latin typeface="Arial" charset="0"/>
          <a:cs typeface="Arial" charset="0"/>
        </a:defRPr>
      </a:lvl6pPr>
      <a:lvl7pPr marL="914400" algn="l" rtl="0" eaLnBrk="1" fontAlgn="base" hangingPunct="1">
        <a:spcBef>
          <a:spcPct val="0"/>
        </a:spcBef>
        <a:spcAft>
          <a:spcPct val="0"/>
        </a:spcAft>
        <a:defRPr sz="4400">
          <a:solidFill>
            <a:schemeClr val="tx1"/>
          </a:solidFill>
          <a:latin typeface="Arial" charset="0"/>
          <a:cs typeface="Arial" charset="0"/>
        </a:defRPr>
      </a:lvl7pPr>
      <a:lvl8pPr marL="1371600" algn="l" rtl="0" eaLnBrk="1" fontAlgn="base" hangingPunct="1">
        <a:spcBef>
          <a:spcPct val="0"/>
        </a:spcBef>
        <a:spcAft>
          <a:spcPct val="0"/>
        </a:spcAft>
        <a:defRPr sz="4400">
          <a:solidFill>
            <a:schemeClr val="tx1"/>
          </a:solidFill>
          <a:latin typeface="Arial" charset="0"/>
          <a:cs typeface="Arial" charset="0"/>
        </a:defRPr>
      </a:lvl8pPr>
      <a:lvl9pPr marL="1828800" algn="l" rtl="0" eaLnBrk="1" fontAlgn="base" hangingPunct="1">
        <a:spcBef>
          <a:spcPct val="0"/>
        </a:spcBef>
        <a:spcAft>
          <a:spcPct val="0"/>
        </a:spcAft>
        <a:defRPr sz="4400">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charset="0"/>
        <a:defRPr sz="2400" kern="1200">
          <a:solidFill>
            <a:schemeClr val="tx1"/>
          </a:solidFill>
          <a:latin typeface="Arial" pitchFamily="34" charset="0"/>
          <a:ea typeface="ＭＳ Ｐゴシック" charset="0"/>
          <a:cs typeface="Arial" pitchFamily="34" charset="0"/>
        </a:defRPr>
      </a:lvl1pPr>
      <a:lvl2pPr marL="514350" indent="-285750" algn="l"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914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3pPr>
      <a:lvl4pPr marL="13716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4pPr>
      <a:lvl5pPr marL="18288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7"/>
          <a:stretch>
            <a:fillRect/>
          </a:stretch>
        </p:blipFill>
        <p:spPr>
          <a:xfrm>
            <a:off x="0" y="3048"/>
            <a:ext cx="9144000" cy="6851904"/>
          </a:xfrm>
          <a:prstGeom prst="rect">
            <a:avLst/>
          </a:prstGeom>
        </p:spPr>
      </p:pic>
      <p:sp>
        <p:nvSpPr>
          <p:cNvPr id="9"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1"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UNCLASSIFIED//FOR OFFICIAL USE ONLY</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6" name="TextBox 5"/>
          <p:cNvSpPr txBox="1"/>
          <p:nvPr userDrawn="1"/>
        </p:nvSpPr>
        <p:spPr>
          <a:xfrm>
            <a:off x="8735627" y="6636780"/>
            <a:ext cx="417459" cy="215444"/>
          </a:xfrm>
          <a:prstGeom prst="rect">
            <a:avLst/>
          </a:prstGeom>
          <a:noFill/>
        </p:spPr>
        <p:txBody>
          <a:bodyPr wrap="square" rtlCol="0">
            <a:spAutoFit/>
          </a:bodyPr>
          <a:lstStyle/>
          <a:p>
            <a:pPr algn="r"/>
            <a:fld id="{96AD103F-80C8-4104-B396-731727462289}" type="slidenum">
              <a:rPr lang="en-US" sz="800" b="1" smtClean="0">
                <a:solidFill>
                  <a:schemeClr val="accent2"/>
                </a:solidFill>
              </a:rPr>
              <a:pPr algn="r"/>
              <a:t>‹#›</a:t>
            </a:fld>
            <a:endParaRPr lang="en-US" sz="800" b="1" dirty="0">
              <a:solidFill>
                <a:schemeClr val="accent2"/>
              </a:solidFill>
            </a:endParaRPr>
          </a:p>
        </p:txBody>
      </p:sp>
    </p:spTree>
    <p:extLst>
      <p:ext uri="{BB962C8B-B14F-4D97-AF65-F5344CB8AC3E}">
        <p14:creationId xmlns:p14="http://schemas.microsoft.com/office/powerpoint/2010/main" val="3363386176"/>
      </p:ext>
    </p:extLst>
  </p:cSld>
  <p:clrMap bg1="lt1" tx1="dk1" bg2="lt2" tx2="dk2" accent1="accent1" accent2="accent2" accent3="accent3" accent4="accent4" accent5="accent5" accent6="accent6" hlink="hlink" folHlink="folHlink"/>
  <p:sldLayoutIdLst>
    <p:sldLayoutId id="2147484217" r:id="rId1"/>
    <p:sldLayoutId id="2147484218" r:id="rId2"/>
    <p:sldLayoutId id="2147484219" r:id="rId3"/>
    <p:sldLayoutId id="2147484220" r:id="rId4"/>
    <p:sldLayoutId id="2147484222" r:id="rId5"/>
  </p:sldLayoutIdLst>
  <p:timing>
    <p:tnLst>
      <p:par>
        <p:cTn id="1" dur="indefinite" restart="never" nodeType="tmRoot"/>
      </p:par>
    </p:tnLst>
  </p:timing>
  <p:hf hdr="0" ftr="0"/>
  <p:txStyles>
    <p:titleStyle>
      <a:lvl1pPr algn="l" rtl="0" eaLnBrk="1" fontAlgn="base" hangingPunct="1">
        <a:spcBef>
          <a:spcPct val="0"/>
        </a:spcBef>
        <a:spcAft>
          <a:spcPct val="0"/>
        </a:spcAft>
        <a:defRPr sz="2400" b="0" kern="1200" cap="all">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5pPr>
      <a:lvl6pPr marL="457200" algn="l" rtl="0" eaLnBrk="1" fontAlgn="base" hangingPunct="1">
        <a:spcBef>
          <a:spcPct val="0"/>
        </a:spcBef>
        <a:spcAft>
          <a:spcPct val="0"/>
        </a:spcAft>
        <a:defRPr sz="4400">
          <a:solidFill>
            <a:schemeClr val="tx1"/>
          </a:solidFill>
          <a:latin typeface="Arial" charset="0"/>
          <a:cs typeface="Arial" charset="0"/>
        </a:defRPr>
      </a:lvl6pPr>
      <a:lvl7pPr marL="914400" algn="l" rtl="0" eaLnBrk="1" fontAlgn="base" hangingPunct="1">
        <a:spcBef>
          <a:spcPct val="0"/>
        </a:spcBef>
        <a:spcAft>
          <a:spcPct val="0"/>
        </a:spcAft>
        <a:defRPr sz="4400">
          <a:solidFill>
            <a:schemeClr val="tx1"/>
          </a:solidFill>
          <a:latin typeface="Arial" charset="0"/>
          <a:cs typeface="Arial" charset="0"/>
        </a:defRPr>
      </a:lvl7pPr>
      <a:lvl8pPr marL="1371600" algn="l" rtl="0" eaLnBrk="1" fontAlgn="base" hangingPunct="1">
        <a:spcBef>
          <a:spcPct val="0"/>
        </a:spcBef>
        <a:spcAft>
          <a:spcPct val="0"/>
        </a:spcAft>
        <a:defRPr sz="4400">
          <a:solidFill>
            <a:schemeClr val="tx1"/>
          </a:solidFill>
          <a:latin typeface="Arial" charset="0"/>
          <a:cs typeface="Arial" charset="0"/>
        </a:defRPr>
      </a:lvl8pPr>
      <a:lvl9pPr marL="1828800" algn="l" rtl="0" eaLnBrk="1" fontAlgn="base" hangingPunct="1">
        <a:spcBef>
          <a:spcPct val="0"/>
        </a:spcBef>
        <a:spcAft>
          <a:spcPct val="0"/>
        </a:spcAft>
        <a:defRPr sz="4400">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charset="0"/>
        <a:defRPr sz="2400" kern="1200">
          <a:solidFill>
            <a:schemeClr val="tx1"/>
          </a:solidFill>
          <a:latin typeface="Arial" pitchFamily="34" charset="0"/>
          <a:ea typeface="ＭＳ Ｐゴシック" charset="0"/>
          <a:cs typeface="Arial" pitchFamily="34" charset="0"/>
        </a:defRPr>
      </a:lvl1pPr>
      <a:lvl2pPr marL="514350" indent="-285750" algn="l"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914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3pPr>
      <a:lvl4pPr marL="13716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4pPr>
      <a:lvl5pPr marL="18288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7"/>
          <a:stretch>
            <a:fillRect/>
          </a:stretch>
        </p:blipFill>
        <p:spPr>
          <a:xfrm>
            <a:off x="0" y="3048"/>
            <a:ext cx="9144000" cy="6851904"/>
          </a:xfrm>
          <a:prstGeom prst="rect">
            <a:avLst/>
          </a:prstGeom>
        </p:spPr>
      </p:pic>
      <p:sp>
        <p:nvSpPr>
          <p:cNvPr id="9"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1"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UNCLASSIFIED</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6" name="TextBox 5"/>
          <p:cNvSpPr txBox="1"/>
          <p:nvPr userDrawn="1"/>
        </p:nvSpPr>
        <p:spPr>
          <a:xfrm>
            <a:off x="8735627" y="6636780"/>
            <a:ext cx="417459" cy="215444"/>
          </a:xfrm>
          <a:prstGeom prst="rect">
            <a:avLst/>
          </a:prstGeom>
          <a:noFill/>
        </p:spPr>
        <p:txBody>
          <a:bodyPr wrap="square" rtlCol="0">
            <a:spAutoFit/>
          </a:bodyPr>
          <a:lstStyle/>
          <a:p>
            <a:pPr algn="r"/>
            <a:fld id="{96AD103F-80C8-4104-B396-731727462289}" type="slidenum">
              <a:rPr lang="en-US" sz="800" b="1" smtClean="0">
                <a:solidFill>
                  <a:schemeClr val="accent2"/>
                </a:solidFill>
              </a:rPr>
              <a:pPr algn="r"/>
              <a:t>‹#›</a:t>
            </a:fld>
            <a:endParaRPr lang="en-US" sz="800" b="1" dirty="0">
              <a:solidFill>
                <a:schemeClr val="accent2"/>
              </a:solidFill>
            </a:endParaRPr>
          </a:p>
        </p:txBody>
      </p:sp>
    </p:spTree>
    <p:extLst>
      <p:ext uri="{BB962C8B-B14F-4D97-AF65-F5344CB8AC3E}">
        <p14:creationId xmlns:p14="http://schemas.microsoft.com/office/powerpoint/2010/main" val="2069894522"/>
      </p:ext>
    </p:extLst>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30" r:id="rId5"/>
  </p:sldLayoutIdLst>
  <p:timing>
    <p:tnLst>
      <p:par>
        <p:cTn id="1" dur="indefinite" restart="never" nodeType="tmRoot"/>
      </p:par>
    </p:tnLst>
  </p:timing>
  <p:hf hdr="0" ftr="0"/>
  <p:txStyles>
    <p:titleStyle>
      <a:lvl1pPr algn="l" rtl="0" eaLnBrk="1" fontAlgn="base" hangingPunct="1">
        <a:spcBef>
          <a:spcPct val="0"/>
        </a:spcBef>
        <a:spcAft>
          <a:spcPct val="0"/>
        </a:spcAft>
        <a:defRPr sz="2400" b="0" kern="1200" cap="all">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5pPr>
      <a:lvl6pPr marL="457200" algn="l" rtl="0" eaLnBrk="1" fontAlgn="base" hangingPunct="1">
        <a:spcBef>
          <a:spcPct val="0"/>
        </a:spcBef>
        <a:spcAft>
          <a:spcPct val="0"/>
        </a:spcAft>
        <a:defRPr sz="4400">
          <a:solidFill>
            <a:schemeClr val="tx1"/>
          </a:solidFill>
          <a:latin typeface="Arial" charset="0"/>
          <a:cs typeface="Arial" charset="0"/>
        </a:defRPr>
      </a:lvl6pPr>
      <a:lvl7pPr marL="914400" algn="l" rtl="0" eaLnBrk="1" fontAlgn="base" hangingPunct="1">
        <a:spcBef>
          <a:spcPct val="0"/>
        </a:spcBef>
        <a:spcAft>
          <a:spcPct val="0"/>
        </a:spcAft>
        <a:defRPr sz="4400">
          <a:solidFill>
            <a:schemeClr val="tx1"/>
          </a:solidFill>
          <a:latin typeface="Arial" charset="0"/>
          <a:cs typeface="Arial" charset="0"/>
        </a:defRPr>
      </a:lvl7pPr>
      <a:lvl8pPr marL="1371600" algn="l" rtl="0" eaLnBrk="1" fontAlgn="base" hangingPunct="1">
        <a:spcBef>
          <a:spcPct val="0"/>
        </a:spcBef>
        <a:spcAft>
          <a:spcPct val="0"/>
        </a:spcAft>
        <a:defRPr sz="4400">
          <a:solidFill>
            <a:schemeClr val="tx1"/>
          </a:solidFill>
          <a:latin typeface="Arial" charset="0"/>
          <a:cs typeface="Arial" charset="0"/>
        </a:defRPr>
      </a:lvl8pPr>
      <a:lvl9pPr marL="1828800" algn="l" rtl="0" eaLnBrk="1" fontAlgn="base" hangingPunct="1">
        <a:spcBef>
          <a:spcPct val="0"/>
        </a:spcBef>
        <a:spcAft>
          <a:spcPct val="0"/>
        </a:spcAft>
        <a:defRPr sz="4400">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charset="0"/>
        <a:defRPr sz="2400" kern="1200">
          <a:solidFill>
            <a:schemeClr val="tx1"/>
          </a:solidFill>
          <a:latin typeface="Arial" pitchFamily="34" charset="0"/>
          <a:ea typeface="ＭＳ Ｐゴシック" charset="0"/>
          <a:cs typeface="Arial" pitchFamily="34" charset="0"/>
        </a:defRPr>
      </a:lvl1pPr>
      <a:lvl2pPr marL="514350" indent="-285750" algn="l"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914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3pPr>
      <a:lvl4pPr marL="13716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4pPr>
      <a:lvl5pPr marL="18288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7"/>
          <a:stretch>
            <a:fillRect/>
          </a:stretch>
        </p:blipFill>
        <p:spPr>
          <a:xfrm>
            <a:off x="0" y="3048"/>
            <a:ext cx="9144000" cy="6851904"/>
          </a:xfrm>
          <a:prstGeom prst="rect">
            <a:avLst/>
          </a:prstGeom>
        </p:spPr>
      </p:pic>
      <p:sp>
        <p:nvSpPr>
          <p:cNvPr id="9" name="Rectangle 15"/>
          <p:cNvSpPr>
            <a:spLocks noChangeArrowheads="1"/>
          </p:cNvSpPr>
          <p:nvPr userDrawn="1"/>
        </p:nvSpPr>
        <p:spPr bwMode="auto">
          <a:xfrm>
            <a:off x="1371600" y="6638559"/>
            <a:ext cx="64008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a:t>
            </a:r>
            <a:r>
              <a:rPr lang="en-US" sz="800" baseline="0" dirty="0" smtClean="0">
                <a:solidFill>
                  <a:schemeClr val="accent2"/>
                </a:solidFill>
                <a:latin typeface="Arial Bold" panose="020B0704020202020204" pitchFamily="34" charset="0"/>
                <a:cs typeface="Arial Bold" panose="020B0704020202020204" pitchFamily="34" charset="0"/>
              </a:rPr>
              <a:t>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11" name="Rectangle 15"/>
          <p:cNvSpPr>
            <a:spLocks noChangeArrowheads="1"/>
          </p:cNvSpPr>
          <p:nvPr userDrawn="1"/>
        </p:nvSpPr>
        <p:spPr bwMode="auto">
          <a:xfrm>
            <a:off x="0" y="1407"/>
            <a:ext cx="9144000" cy="215444"/>
          </a:xfrm>
          <a:prstGeom prst="rect">
            <a:avLst/>
          </a:prstGeom>
          <a:noFill/>
          <a:ln w="9525">
            <a:noFill/>
            <a:miter lim="800000"/>
            <a:headEnd/>
            <a:tailEnd/>
          </a:ln>
        </p:spPr>
        <p:txBody>
          <a:bodyPr wrap="square" anchor="b">
            <a:spAutoFit/>
          </a:bodyPr>
          <a:lstStyle/>
          <a:p>
            <a:pPr algn="ctr">
              <a:defRPr/>
            </a:pPr>
            <a:r>
              <a:rPr lang="en-US" sz="800" dirty="0" smtClean="0">
                <a:solidFill>
                  <a:schemeClr val="accent2"/>
                </a:solidFill>
                <a:latin typeface="Arial Bold" panose="020B0704020202020204" pitchFamily="34" charset="0"/>
                <a:cs typeface="Arial Bold" panose="020B0704020202020204" pitchFamily="34" charset="0"/>
              </a:rPr>
              <a:t>APPROVED</a:t>
            </a:r>
            <a:r>
              <a:rPr lang="en-US" sz="800" baseline="0" dirty="0" smtClean="0">
                <a:solidFill>
                  <a:schemeClr val="accent2"/>
                </a:solidFill>
                <a:latin typeface="Arial Bold" panose="020B0704020202020204" pitchFamily="34" charset="0"/>
                <a:cs typeface="Arial Bold" panose="020B0704020202020204" pitchFamily="34" charset="0"/>
              </a:rPr>
              <a:t> FOR PUBLIC RELEASE</a:t>
            </a:r>
            <a:endParaRPr lang="en-US" sz="800" dirty="0">
              <a:solidFill>
                <a:schemeClr val="accent2"/>
              </a:solidFill>
              <a:latin typeface="Arial Bold" panose="020B0704020202020204" pitchFamily="34" charset="0"/>
              <a:cs typeface="Arial Bold" panose="020B0704020202020204" pitchFamily="34" charset="0"/>
            </a:endParaRPr>
          </a:p>
        </p:txBody>
      </p:sp>
      <p:sp>
        <p:nvSpPr>
          <p:cNvPr id="6" name="TextBox 5"/>
          <p:cNvSpPr txBox="1"/>
          <p:nvPr userDrawn="1"/>
        </p:nvSpPr>
        <p:spPr>
          <a:xfrm>
            <a:off x="8735627" y="6636780"/>
            <a:ext cx="417459" cy="215444"/>
          </a:xfrm>
          <a:prstGeom prst="rect">
            <a:avLst/>
          </a:prstGeom>
          <a:noFill/>
        </p:spPr>
        <p:txBody>
          <a:bodyPr wrap="square" rtlCol="0">
            <a:spAutoFit/>
          </a:bodyPr>
          <a:lstStyle/>
          <a:p>
            <a:pPr algn="r"/>
            <a:fld id="{96AD103F-80C8-4104-B396-731727462289}" type="slidenum">
              <a:rPr lang="en-US" sz="800" b="1" smtClean="0">
                <a:solidFill>
                  <a:schemeClr val="accent2"/>
                </a:solidFill>
              </a:rPr>
              <a:pPr algn="r"/>
              <a:t>‹#›</a:t>
            </a:fld>
            <a:endParaRPr lang="en-US" sz="800" b="1" dirty="0">
              <a:solidFill>
                <a:schemeClr val="accent2"/>
              </a:solidFill>
            </a:endParaRPr>
          </a:p>
        </p:txBody>
      </p:sp>
    </p:spTree>
    <p:extLst>
      <p:ext uri="{BB962C8B-B14F-4D97-AF65-F5344CB8AC3E}">
        <p14:creationId xmlns:p14="http://schemas.microsoft.com/office/powerpoint/2010/main" val="1085634697"/>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8" r:id="rId5"/>
  </p:sldLayoutIdLst>
  <p:timing>
    <p:tnLst>
      <p:par>
        <p:cTn id="1" dur="indefinite" restart="never" nodeType="tmRoot"/>
      </p:par>
    </p:tnLst>
  </p:timing>
  <p:hf hdr="0" ftr="0"/>
  <p:txStyles>
    <p:titleStyle>
      <a:lvl1pPr algn="l" rtl="0" eaLnBrk="1" fontAlgn="base" hangingPunct="1">
        <a:spcBef>
          <a:spcPct val="0"/>
        </a:spcBef>
        <a:spcAft>
          <a:spcPct val="0"/>
        </a:spcAft>
        <a:defRPr sz="2400" b="0" kern="1200" cap="all">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5pPr>
      <a:lvl6pPr marL="457200" algn="l" rtl="0" eaLnBrk="1" fontAlgn="base" hangingPunct="1">
        <a:spcBef>
          <a:spcPct val="0"/>
        </a:spcBef>
        <a:spcAft>
          <a:spcPct val="0"/>
        </a:spcAft>
        <a:defRPr sz="4400">
          <a:solidFill>
            <a:schemeClr val="tx1"/>
          </a:solidFill>
          <a:latin typeface="Arial" charset="0"/>
          <a:cs typeface="Arial" charset="0"/>
        </a:defRPr>
      </a:lvl6pPr>
      <a:lvl7pPr marL="914400" algn="l" rtl="0" eaLnBrk="1" fontAlgn="base" hangingPunct="1">
        <a:spcBef>
          <a:spcPct val="0"/>
        </a:spcBef>
        <a:spcAft>
          <a:spcPct val="0"/>
        </a:spcAft>
        <a:defRPr sz="4400">
          <a:solidFill>
            <a:schemeClr val="tx1"/>
          </a:solidFill>
          <a:latin typeface="Arial" charset="0"/>
          <a:cs typeface="Arial" charset="0"/>
        </a:defRPr>
      </a:lvl7pPr>
      <a:lvl8pPr marL="1371600" algn="l" rtl="0" eaLnBrk="1" fontAlgn="base" hangingPunct="1">
        <a:spcBef>
          <a:spcPct val="0"/>
        </a:spcBef>
        <a:spcAft>
          <a:spcPct val="0"/>
        </a:spcAft>
        <a:defRPr sz="4400">
          <a:solidFill>
            <a:schemeClr val="tx1"/>
          </a:solidFill>
          <a:latin typeface="Arial" charset="0"/>
          <a:cs typeface="Arial" charset="0"/>
        </a:defRPr>
      </a:lvl8pPr>
      <a:lvl9pPr marL="1828800" algn="l" rtl="0" eaLnBrk="1" fontAlgn="base" hangingPunct="1">
        <a:spcBef>
          <a:spcPct val="0"/>
        </a:spcBef>
        <a:spcAft>
          <a:spcPct val="0"/>
        </a:spcAft>
        <a:defRPr sz="4400">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charset="0"/>
        <a:defRPr sz="2400" kern="1200">
          <a:solidFill>
            <a:schemeClr val="tx1"/>
          </a:solidFill>
          <a:latin typeface="Arial" pitchFamily="34" charset="0"/>
          <a:ea typeface="ＭＳ Ｐゴシック" charset="0"/>
          <a:cs typeface="Arial" pitchFamily="34" charset="0"/>
        </a:defRPr>
      </a:lvl1pPr>
      <a:lvl2pPr marL="514350" indent="-285750" algn="l"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914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3pPr>
      <a:lvl4pPr marL="13716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4pPr>
      <a:lvl5pPr marL="18288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jp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0.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p:txBody>
          <a:bodyPr/>
          <a:lstStyle/>
          <a:p>
            <a:r>
              <a:rPr lang="en-US" dirty="0" smtClean="0"/>
              <a:t>28 JUL 2019</a:t>
            </a:r>
            <a:endParaRPr lang="en-US" dirty="0"/>
          </a:p>
        </p:txBody>
      </p:sp>
      <p:sp>
        <p:nvSpPr>
          <p:cNvPr id="3" name="Text Placeholder 2"/>
          <p:cNvSpPr>
            <a:spLocks noGrp="1"/>
          </p:cNvSpPr>
          <p:nvPr>
            <p:ph type="body" sz="quarter" idx="12"/>
          </p:nvPr>
        </p:nvSpPr>
        <p:spPr/>
        <p:txBody>
          <a:bodyPr/>
          <a:lstStyle/>
          <a:p>
            <a:r>
              <a:rPr lang="en-US" dirty="0" smtClean="0"/>
              <a:t>Human </a:t>
            </a:r>
            <a:r>
              <a:rPr lang="en-US" dirty="0"/>
              <a:t>Interaction with the Output of </a:t>
            </a:r>
            <a:r>
              <a:rPr lang="en-US" dirty="0" smtClean="0"/>
              <a:t>Information Extraction </a:t>
            </a:r>
            <a:r>
              <a:rPr lang="en-US" dirty="0"/>
              <a:t>Systems</a:t>
            </a:r>
          </a:p>
        </p:txBody>
      </p:sp>
      <p:sp>
        <p:nvSpPr>
          <p:cNvPr id="4" name="Text Placeholder 3"/>
          <p:cNvSpPr>
            <a:spLocks noGrp="1"/>
          </p:cNvSpPr>
          <p:nvPr>
            <p:ph type="body" sz="quarter" idx="13"/>
          </p:nvPr>
        </p:nvSpPr>
        <p:spPr/>
        <p:txBody>
          <a:bodyPr/>
          <a:lstStyle/>
          <a:p>
            <a:pPr marL="0" indent="0"/>
            <a:r>
              <a:rPr lang="en-US" dirty="0" smtClean="0"/>
              <a:t>Erin Zaroukian</a:t>
            </a:r>
            <a:endParaRPr lang="en-US" dirty="0"/>
          </a:p>
        </p:txBody>
      </p:sp>
      <p:sp>
        <p:nvSpPr>
          <p:cNvPr id="5" name="Text Placeholder 4"/>
          <p:cNvSpPr>
            <a:spLocks noGrp="1"/>
          </p:cNvSpPr>
          <p:nvPr>
            <p:ph type="body" sz="quarter" idx="14"/>
          </p:nvPr>
        </p:nvSpPr>
        <p:spPr/>
        <p:txBody>
          <a:bodyPr/>
          <a:lstStyle/>
          <a:p>
            <a:pPr marL="0" indent="0"/>
            <a:r>
              <a:rPr lang="en-US" dirty="0" smtClean="0"/>
              <a:t>Cognitive Scientist</a:t>
            </a:r>
            <a:endParaRPr lang="en-US" dirty="0"/>
          </a:p>
        </p:txBody>
      </p:sp>
      <p:sp>
        <p:nvSpPr>
          <p:cNvPr id="6" name="Text Placeholder 5"/>
          <p:cNvSpPr>
            <a:spLocks noGrp="1"/>
          </p:cNvSpPr>
          <p:nvPr>
            <p:ph type="body" sz="quarter" idx="15"/>
          </p:nvPr>
        </p:nvSpPr>
        <p:spPr/>
        <p:txBody>
          <a:bodyPr/>
          <a:lstStyle/>
          <a:p>
            <a:pPr marL="0" indent="0"/>
            <a:r>
              <a:rPr lang="en-US" dirty="0" smtClean="0"/>
              <a:t>Computational and Information Sciences Directorate</a:t>
            </a:r>
            <a:endParaRPr lang="en-US" dirty="0"/>
          </a:p>
        </p:txBody>
      </p:sp>
      <p:sp>
        <p:nvSpPr>
          <p:cNvPr id="7" name="Text Placeholder 6"/>
          <p:cNvSpPr>
            <a:spLocks noGrp="1"/>
          </p:cNvSpPr>
          <p:nvPr>
            <p:ph type="body" sz="quarter" idx="18"/>
          </p:nvPr>
        </p:nvSpPr>
        <p:spPr/>
        <p:txBody>
          <a:bodyPr/>
          <a:lstStyle/>
          <a:p>
            <a:pPr marL="0" indent="0"/>
            <a:r>
              <a:rPr lang="en-US" dirty="0" smtClean="0"/>
              <a:t>Approved for public release, distribution unlimited</a:t>
            </a:r>
            <a:endParaRPr lang="en-US" dirty="0"/>
          </a:p>
        </p:txBody>
      </p:sp>
    </p:spTree>
    <p:extLst>
      <p:ext uri="{BB962C8B-B14F-4D97-AF65-F5344CB8AC3E}">
        <p14:creationId xmlns:p14="http://schemas.microsoft.com/office/powerpoint/2010/main" val="2985357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10954" y="2211454"/>
            <a:ext cx="917455" cy="1828800"/>
          </a:xfrm>
        </p:spPr>
      </p:pic>
      <p:sp>
        <p:nvSpPr>
          <p:cNvPr id="3" name="Title 2"/>
          <p:cNvSpPr>
            <a:spLocks noGrp="1"/>
          </p:cNvSpPr>
          <p:nvPr>
            <p:ph type="title"/>
          </p:nvPr>
        </p:nvSpPr>
        <p:spPr/>
        <p:txBody>
          <a:bodyPr/>
          <a:lstStyle/>
          <a:p>
            <a:r>
              <a:rPr lang="en-US" dirty="0"/>
              <a:t>I</a:t>
            </a:r>
            <a:r>
              <a:rPr lang="en-US" dirty="0" smtClean="0"/>
              <a:t>nformation Extraction</a:t>
            </a:r>
            <a:endParaRPr lang="en-US" dirty="0"/>
          </a:p>
        </p:txBody>
      </p:sp>
      <p:sp>
        <p:nvSpPr>
          <p:cNvPr id="4" name="Flowchart: Direct Access Storage 3"/>
          <p:cNvSpPr/>
          <p:nvPr/>
        </p:nvSpPr>
        <p:spPr>
          <a:xfrm>
            <a:off x="2600704" y="2968831"/>
            <a:ext cx="2493818" cy="731520"/>
          </a:xfrm>
          <a:prstGeom prst="flowChartMagneticDrum">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Flowchart: Direct Access Storage 4"/>
          <p:cNvSpPr/>
          <p:nvPr/>
        </p:nvSpPr>
        <p:spPr>
          <a:xfrm>
            <a:off x="3785419" y="2964082"/>
            <a:ext cx="2493818" cy="731520"/>
          </a:xfrm>
          <a:prstGeom prst="flowChartMagneticDrum">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Cloud 7"/>
          <p:cNvSpPr/>
          <p:nvPr/>
        </p:nvSpPr>
        <p:spPr>
          <a:xfrm>
            <a:off x="581895" y="2964082"/>
            <a:ext cx="1448790" cy="731520"/>
          </a:xfrm>
          <a:prstGeom prst="clou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dirty="0" smtClean="0"/>
              <a:t>Unstructured information</a:t>
            </a:r>
            <a:endParaRPr lang="en-US" sz="1000" dirty="0"/>
          </a:p>
        </p:txBody>
      </p:sp>
      <p:sp>
        <p:nvSpPr>
          <p:cNvPr id="9" name="Rectangle 8"/>
          <p:cNvSpPr/>
          <p:nvPr/>
        </p:nvSpPr>
        <p:spPr>
          <a:xfrm>
            <a:off x="6590810" y="2975957"/>
            <a:ext cx="1006389" cy="676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dirty="0" smtClean="0"/>
              <a:t>Structured information</a:t>
            </a:r>
            <a:endParaRPr lang="en-US" sz="1000" dirty="0"/>
          </a:p>
        </p:txBody>
      </p:sp>
      <p:sp>
        <p:nvSpPr>
          <p:cNvPr id="12" name="Right Arrow 11"/>
          <p:cNvSpPr/>
          <p:nvPr/>
        </p:nvSpPr>
        <p:spPr>
          <a:xfrm>
            <a:off x="2139418" y="3215839"/>
            <a:ext cx="322416" cy="254133"/>
          </a:xfrm>
          <a:prstGeom prst="rightArrow">
            <a:avLst/>
          </a:prstGeom>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6133230" y="3202775"/>
            <a:ext cx="322416" cy="254133"/>
          </a:xfrm>
          <a:prstGeom prst="rightArrow">
            <a:avLst/>
          </a:prstGeom>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H="1">
            <a:off x="7597199" y="2505694"/>
            <a:ext cx="335521" cy="356259"/>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5603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 1</a:t>
            </a:r>
            <a:endParaRPr lang="en-US" dirty="0"/>
          </a:p>
        </p:txBody>
      </p:sp>
      <p:sp>
        <p:nvSpPr>
          <p:cNvPr id="3" name="Text Placeholder 2"/>
          <p:cNvSpPr>
            <a:spLocks noGrp="1"/>
          </p:cNvSpPr>
          <p:nvPr>
            <p:ph type="body" sz="quarter" idx="12"/>
          </p:nvPr>
        </p:nvSpPr>
        <p:spPr/>
        <p:txBody>
          <a:bodyPr/>
          <a:lstStyle/>
          <a:p>
            <a:r>
              <a:rPr lang="en-US" dirty="0" smtClean="0"/>
              <a:t>Markup from an IE pipeline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0757" y="3569973"/>
            <a:ext cx="3756660" cy="2301240"/>
          </a:xfrm>
          <a:prstGeom prst="rect">
            <a:avLst/>
          </a:prstGeom>
        </p:spPr>
      </p:pic>
    </p:spTree>
    <p:extLst>
      <p:ext uri="{BB962C8B-B14F-4D97-AF65-F5344CB8AC3E}">
        <p14:creationId xmlns:p14="http://schemas.microsoft.com/office/powerpoint/2010/main" val="651148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Demographics</a:t>
            </a:r>
          </a:p>
          <a:p>
            <a:endParaRPr lang="en-US" dirty="0"/>
          </a:p>
        </p:txBody>
      </p:sp>
      <p:sp>
        <p:nvSpPr>
          <p:cNvPr id="3" name="Title 2"/>
          <p:cNvSpPr>
            <a:spLocks noGrp="1"/>
          </p:cNvSpPr>
          <p:nvPr>
            <p:ph type="title"/>
          </p:nvPr>
        </p:nvSpPr>
        <p:spPr/>
        <p:txBody>
          <a:bodyPr/>
          <a:lstStyle/>
          <a:p>
            <a:r>
              <a:rPr lang="en-US" dirty="0" smtClean="0"/>
              <a:t>Experiment 1 - Procedure</a:t>
            </a:r>
            <a:endParaRPr lang="en-US" dirty="0"/>
          </a:p>
        </p:txBody>
      </p:sp>
      <p:pic>
        <p:nvPicPr>
          <p:cNvPr id="4" name="Picture 3"/>
          <p:cNvPicPr>
            <a:picLocks noChangeAspect="1"/>
          </p:cNvPicPr>
          <p:nvPr/>
        </p:nvPicPr>
        <p:blipFill>
          <a:blip r:embed="rId2"/>
          <a:stretch>
            <a:fillRect/>
          </a:stretch>
        </p:blipFill>
        <p:spPr>
          <a:xfrm>
            <a:off x="2379705" y="1868755"/>
            <a:ext cx="4219697" cy="4297680"/>
          </a:xfrm>
          <a:prstGeom prst="rect">
            <a:avLst/>
          </a:prstGeom>
        </p:spPr>
      </p:pic>
    </p:spTree>
    <p:extLst>
      <p:ext uri="{BB962C8B-B14F-4D97-AF65-F5344CB8AC3E}">
        <p14:creationId xmlns:p14="http://schemas.microsoft.com/office/powerpoint/2010/main" val="40379000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
          <p:cNvSpPr>
            <a:spLocks noGrp="1"/>
          </p:cNvSpPr>
          <p:nvPr>
            <p:ph idx="1"/>
          </p:nvPr>
        </p:nvSpPr>
        <p:spPr>
          <a:xfrm>
            <a:off x="442210" y="1228725"/>
            <a:ext cx="8094688" cy="4714874"/>
          </a:xfrm>
        </p:spPr>
        <p:txBody>
          <a:bodyPr/>
          <a:lstStyle/>
          <a:p>
            <a:pPr marL="0" indent="0">
              <a:buNone/>
            </a:pPr>
            <a:r>
              <a:rPr lang="en-US" dirty="0" smtClean="0"/>
              <a:t>Scenario text</a:t>
            </a:r>
            <a:endParaRPr lang="en-US" dirty="0"/>
          </a:p>
        </p:txBody>
      </p:sp>
      <p:sp>
        <p:nvSpPr>
          <p:cNvPr id="3" name="Title 2"/>
          <p:cNvSpPr>
            <a:spLocks noGrp="1"/>
          </p:cNvSpPr>
          <p:nvPr>
            <p:ph type="title"/>
          </p:nvPr>
        </p:nvSpPr>
        <p:spPr/>
        <p:txBody>
          <a:bodyPr/>
          <a:lstStyle/>
          <a:p>
            <a:r>
              <a:rPr lang="en-US" dirty="0" smtClean="0"/>
              <a:t>Experiment 1 - Procedure</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335" y="2061069"/>
            <a:ext cx="3756660" cy="230124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1703" y="2061069"/>
            <a:ext cx="3703320" cy="1859280"/>
          </a:xfrm>
          <a:prstGeom prst="rect">
            <a:avLst/>
          </a:prstGeom>
        </p:spPr>
      </p:pic>
      <p:sp>
        <p:nvSpPr>
          <p:cNvPr id="7" name="TextBox 6"/>
          <p:cNvSpPr txBox="1"/>
          <p:nvPr/>
        </p:nvSpPr>
        <p:spPr>
          <a:xfrm rot="5400000">
            <a:off x="2082638" y="4491233"/>
            <a:ext cx="389850" cy="338554"/>
          </a:xfrm>
          <a:prstGeom prst="rect">
            <a:avLst/>
          </a:prstGeom>
          <a:noFill/>
        </p:spPr>
        <p:txBody>
          <a:bodyPr wrap="none" rtlCol="0">
            <a:spAutoFit/>
          </a:bodyPr>
          <a:lstStyle/>
          <a:p>
            <a:r>
              <a:rPr lang="en-US" sz="1600" dirty="0" smtClean="0"/>
              <a:t>…</a:t>
            </a:r>
            <a:endParaRPr lang="en-US" sz="1600" dirty="0"/>
          </a:p>
        </p:txBody>
      </p:sp>
      <p:sp>
        <p:nvSpPr>
          <p:cNvPr id="8" name="TextBox 7"/>
          <p:cNvSpPr txBox="1"/>
          <p:nvPr/>
        </p:nvSpPr>
        <p:spPr>
          <a:xfrm rot="5400000">
            <a:off x="6568437" y="4491233"/>
            <a:ext cx="389850" cy="338554"/>
          </a:xfrm>
          <a:prstGeom prst="rect">
            <a:avLst/>
          </a:prstGeom>
          <a:noFill/>
        </p:spPr>
        <p:txBody>
          <a:bodyPr wrap="none" rtlCol="0">
            <a:spAutoFit/>
          </a:bodyPr>
          <a:lstStyle/>
          <a:p>
            <a:r>
              <a:rPr lang="en-US" sz="1600" dirty="0" smtClean="0"/>
              <a:t>…</a:t>
            </a:r>
            <a:endParaRPr lang="en-US" sz="1600" dirty="0"/>
          </a:p>
        </p:txBody>
      </p:sp>
      <p:pic>
        <p:nvPicPr>
          <p:cNvPr id="4" name="Picture 3"/>
          <p:cNvPicPr>
            <a:picLocks noChangeAspect="1"/>
          </p:cNvPicPr>
          <p:nvPr/>
        </p:nvPicPr>
        <p:blipFill>
          <a:blip r:embed="rId4"/>
          <a:stretch>
            <a:fillRect/>
          </a:stretch>
        </p:blipFill>
        <p:spPr>
          <a:xfrm>
            <a:off x="677363" y="4906732"/>
            <a:ext cx="3200400" cy="1266961"/>
          </a:xfrm>
          <a:prstGeom prst="rect">
            <a:avLst/>
          </a:prstGeom>
        </p:spPr>
      </p:pic>
      <p:pic>
        <p:nvPicPr>
          <p:cNvPr id="10" name="Picture 9"/>
          <p:cNvPicPr>
            <a:picLocks noChangeAspect="1"/>
          </p:cNvPicPr>
          <p:nvPr/>
        </p:nvPicPr>
        <p:blipFill>
          <a:blip r:embed="rId4"/>
          <a:stretch>
            <a:fillRect/>
          </a:stretch>
        </p:blipFill>
        <p:spPr>
          <a:xfrm>
            <a:off x="5163162" y="4948669"/>
            <a:ext cx="3200400" cy="1266961"/>
          </a:xfrm>
          <a:prstGeom prst="rect">
            <a:avLst/>
          </a:prstGeom>
        </p:spPr>
      </p:pic>
      <p:sp>
        <p:nvSpPr>
          <p:cNvPr id="11" name="TextBox 10"/>
          <p:cNvSpPr txBox="1"/>
          <p:nvPr/>
        </p:nvSpPr>
        <p:spPr>
          <a:xfrm>
            <a:off x="1453459" y="1613394"/>
            <a:ext cx="1648208" cy="338554"/>
          </a:xfrm>
          <a:prstGeom prst="rect">
            <a:avLst/>
          </a:prstGeom>
          <a:noFill/>
        </p:spPr>
        <p:txBody>
          <a:bodyPr wrap="none" rtlCol="0">
            <a:spAutoFit/>
          </a:bodyPr>
          <a:lstStyle/>
          <a:p>
            <a:r>
              <a:rPr lang="en-US" sz="1600" dirty="0" smtClean="0"/>
              <a:t>- With markup -</a:t>
            </a:r>
            <a:endParaRPr lang="en-US" sz="1600" dirty="0"/>
          </a:p>
        </p:txBody>
      </p:sp>
      <p:sp>
        <p:nvSpPr>
          <p:cNvPr id="12" name="TextBox 11"/>
          <p:cNvSpPr txBox="1"/>
          <p:nvPr/>
        </p:nvSpPr>
        <p:spPr>
          <a:xfrm>
            <a:off x="5825444" y="1613394"/>
            <a:ext cx="1875835" cy="338554"/>
          </a:xfrm>
          <a:prstGeom prst="rect">
            <a:avLst/>
          </a:prstGeom>
          <a:noFill/>
        </p:spPr>
        <p:txBody>
          <a:bodyPr wrap="none" rtlCol="0">
            <a:spAutoFit/>
          </a:bodyPr>
          <a:lstStyle/>
          <a:p>
            <a:r>
              <a:rPr lang="en-US" sz="1600" dirty="0" smtClean="0"/>
              <a:t>- Without markup -</a:t>
            </a:r>
            <a:endParaRPr lang="en-US" sz="1600" dirty="0"/>
          </a:p>
        </p:txBody>
      </p:sp>
    </p:spTree>
    <p:extLst>
      <p:ext uri="{BB962C8B-B14F-4D97-AF65-F5344CB8AC3E}">
        <p14:creationId xmlns:p14="http://schemas.microsoft.com/office/powerpoint/2010/main" val="13268457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Workload (NASA-TLX) and preference</a:t>
            </a:r>
          </a:p>
        </p:txBody>
      </p:sp>
      <p:sp>
        <p:nvSpPr>
          <p:cNvPr id="3" name="Title 2"/>
          <p:cNvSpPr>
            <a:spLocks noGrp="1"/>
          </p:cNvSpPr>
          <p:nvPr>
            <p:ph type="title"/>
          </p:nvPr>
        </p:nvSpPr>
        <p:spPr/>
        <p:txBody>
          <a:bodyPr/>
          <a:lstStyle/>
          <a:p>
            <a:r>
              <a:rPr lang="en-US" dirty="0" smtClean="0"/>
              <a:t>Experiment 1 - Procedure</a:t>
            </a:r>
            <a:endParaRPr lang="en-US" dirty="0"/>
          </a:p>
        </p:txBody>
      </p:sp>
      <p:pic>
        <p:nvPicPr>
          <p:cNvPr id="4" name="Picture 3"/>
          <p:cNvPicPr>
            <a:picLocks noChangeAspect="1"/>
          </p:cNvPicPr>
          <p:nvPr/>
        </p:nvPicPr>
        <p:blipFill>
          <a:blip r:embed="rId2"/>
          <a:stretch>
            <a:fillRect/>
          </a:stretch>
        </p:blipFill>
        <p:spPr>
          <a:xfrm>
            <a:off x="531828" y="1956709"/>
            <a:ext cx="7762199" cy="4114800"/>
          </a:xfrm>
          <a:prstGeom prst="rect">
            <a:avLst/>
          </a:prstGeom>
        </p:spPr>
      </p:pic>
    </p:spTree>
    <p:extLst>
      <p:ext uri="{BB962C8B-B14F-4D97-AF65-F5344CB8AC3E}">
        <p14:creationId xmlns:p14="http://schemas.microsoft.com/office/powerpoint/2010/main" val="18032727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2210" y="4857007"/>
            <a:ext cx="8094688" cy="1086591"/>
          </a:xfrm>
        </p:spPr>
        <p:txBody>
          <a:bodyPr/>
          <a:lstStyle/>
          <a:p>
            <a:r>
              <a:rPr lang="en-US" dirty="0" smtClean="0"/>
              <a:t>Plain more accurate, </a:t>
            </a:r>
            <a:r>
              <a:rPr lang="en-US" dirty="0" smtClean="0"/>
              <a:t>faster</a:t>
            </a:r>
          </a:p>
          <a:p>
            <a:pPr lvl="1"/>
            <a:r>
              <a:rPr lang="en-US" dirty="0"/>
              <a:t>Note – sizable minority of participants prefer markup, perform better with </a:t>
            </a:r>
            <a:r>
              <a:rPr lang="en-US" dirty="0" smtClean="0"/>
              <a:t>markup</a:t>
            </a:r>
            <a:endParaRPr lang="en-US" dirty="0" smtClean="0"/>
          </a:p>
          <a:p>
            <a:r>
              <a:rPr lang="en-US" dirty="0" smtClean="0"/>
              <a:t>Lower workload ratings for Plain</a:t>
            </a:r>
          </a:p>
          <a:p>
            <a:r>
              <a:rPr lang="en-US" dirty="0" smtClean="0"/>
              <a:t>Prefer Plain</a:t>
            </a:r>
            <a:endParaRPr lang="en-US" dirty="0"/>
          </a:p>
        </p:txBody>
      </p:sp>
      <p:sp>
        <p:nvSpPr>
          <p:cNvPr id="3" name="Title 2"/>
          <p:cNvSpPr>
            <a:spLocks noGrp="1"/>
          </p:cNvSpPr>
          <p:nvPr>
            <p:ph type="title"/>
          </p:nvPr>
        </p:nvSpPr>
        <p:spPr/>
        <p:txBody>
          <a:bodyPr/>
          <a:lstStyle/>
          <a:p>
            <a:r>
              <a:rPr lang="en-US" dirty="0" smtClean="0"/>
              <a:t>Experiment 1 - Results</a:t>
            </a:r>
            <a:endParaRPr lang="en-US" dirty="0"/>
          </a:p>
        </p:txBody>
      </p:sp>
      <p:pic>
        <p:nvPicPr>
          <p:cNvPr id="4" name="Picture 3"/>
          <p:cNvPicPr>
            <a:picLocks noChangeAspect="1"/>
          </p:cNvPicPr>
          <p:nvPr/>
        </p:nvPicPr>
        <p:blipFill>
          <a:blip r:embed="rId3"/>
          <a:stretch>
            <a:fillRect/>
          </a:stretch>
        </p:blipFill>
        <p:spPr>
          <a:xfrm>
            <a:off x="1898328" y="1427871"/>
            <a:ext cx="5029200" cy="3301708"/>
          </a:xfrm>
          <a:prstGeom prst="rect">
            <a:avLst/>
          </a:prstGeom>
        </p:spPr>
      </p:pic>
    </p:spTree>
    <p:extLst>
      <p:ext uri="{BB962C8B-B14F-4D97-AF65-F5344CB8AC3E}">
        <p14:creationId xmlns:p14="http://schemas.microsoft.com/office/powerpoint/2010/main" val="11782097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 2</a:t>
            </a:r>
            <a:endParaRPr lang="en-US" dirty="0"/>
          </a:p>
        </p:txBody>
      </p:sp>
      <p:sp>
        <p:nvSpPr>
          <p:cNvPr id="3" name="Text Placeholder 2"/>
          <p:cNvSpPr>
            <a:spLocks noGrp="1"/>
          </p:cNvSpPr>
          <p:nvPr>
            <p:ph type="body" sz="quarter" idx="12"/>
          </p:nvPr>
        </p:nvSpPr>
        <p:spPr/>
        <p:txBody>
          <a:bodyPr/>
          <a:lstStyle/>
          <a:p>
            <a:r>
              <a:rPr lang="en-US" dirty="0" smtClean="0"/>
              <a:t>“Ideal” markup</a:t>
            </a:r>
            <a:endParaRPr lang="en-US" dirty="0"/>
          </a:p>
        </p:txBody>
      </p:sp>
      <p:pic>
        <p:nvPicPr>
          <p:cNvPr id="4" name="Picture 3"/>
          <p:cNvPicPr>
            <a:picLocks noChangeAspect="1"/>
          </p:cNvPicPr>
          <p:nvPr/>
        </p:nvPicPr>
        <p:blipFill rotWithShape="1">
          <a:blip r:embed="rId3"/>
          <a:srcRect t="8301" b="43651"/>
          <a:stretch/>
        </p:blipFill>
        <p:spPr>
          <a:xfrm>
            <a:off x="5021705" y="3655451"/>
            <a:ext cx="3657600" cy="2400792"/>
          </a:xfrm>
          <a:prstGeom prst="rect">
            <a:avLst/>
          </a:prstGeom>
        </p:spPr>
      </p:pic>
    </p:spTree>
    <p:extLst>
      <p:ext uri="{BB962C8B-B14F-4D97-AF65-F5344CB8AC3E}">
        <p14:creationId xmlns:p14="http://schemas.microsoft.com/office/powerpoint/2010/main" val="1895575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Demographics</a:t>
            </a:r>
          </a:p>
        </p:txBody>
      </p:sp>
      <p:sp>
        <p:nvSpPr>
          <p:cNvPr id="3" name="Title 2"/>
          <p:cNvSpPr>
            <a:spLocks noGrp="1"/>
          </p:cNvSpPr>
          <p:nvPr>
            <p:ph type="title"/>
          </p:nvPr>
        </p:nvSpPr>
        <p:spPr/>
        <p:txBody>
          <a:bodyPr/>
          <a:lstStyle/>
          <a:p>
            <a:r>
              <a:rPr lang="en-US" dirty="0" smtClean="0"/>
              <a:t>Experiment 2 - Procedure</a:t>
            </a:r>
            <a:endParaRPr lang="en-US" dirty="0"/>
          </a:p>
        </p:txBody>
      </p:sp>
      <p:pic>
        <p:nvPicPr>
          <p:cNvPr id="4" name="Picture 3"/>
          <p:cNvPicPr>
            <a:picLocks noChangeAspect="1"/>
          </p:cNvPicPr>
          <p:nvPr/>
        </p:nvPicPr>
        <p:blipFill>
          <a:blip r:embed="rId2"/>
          <a:stretch>
            <a:fillRect/>
          </a:stretch>
        </p:blipFill>
        <p:spPr>
          <a:xfrm>
            <a:off x="508104" y="1685924"/>
            <a:ext cx="3981450" cy="4257675"/>
          </a:xfrm>
          <a:prstGeom prst="rect">
            <a:avLst/>
          </a:prstGeom>
        </p:spPr>
      </p:pic>
      <p:pic>
        <p:nvPicPr>
          <p:cNvPr id="5" name="Picture 4"/>
          <p:cNvPicPr>
            <a:picLocks noChangeAspect="1"/>
          </p:cNvPicPr>
          <p:nvPr/>
        </p:nvPicPr>
        <p:blipFill>
          <a:blip r:embed="rId3"/>
          <a:stretch>
            <a:fillRect/>
          </a:stretch>
        </p:blipFill>
        <p:spPr>
          <a:xfrm>
            <a:off x="4555448" y="3270786"/>
            <a:ext cx="4410075" cy="2952750"/>
          </a:xfrm>
          <a:prstGeom prst="rect">
            <a:avLst/>
          </a:prstGeom>
        </p:spPr>
      </p:pic>
    </p:spTree>
    <p:extLst>
      <p:ext uri="{BB962C8B-B14F-4D97-AF65-F5344CB8AC3E}">
        <p14:creationId xmlns:p14="http://schemas.microsoft.com/office/powerpoint/2010/main" val="36480057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Scenario text</a:t>
            </a:r>
            <a:endParaRPr lang="en-US" dirty="0"/>
          </a:p>
        </p:txBody>
      </p:sp>
      <p:sp>
        <p:nvSpPr>
          <p:cNvPr id="3" name="Title 2"/>
          <p:cNvSpPr>
            <a:spLocks noGrp="1"/>
          </p:cNvSpPr>
          <p:nvPr>
            <p:ph type="title"/>
          </p:nvPr>
        </p:nvSpPr>
        <p:spPr/>
        <p:txBody>
          <a:bodyPr/>
          <a:lstStyle/>
          <a:p>
            <a:r>
              <a:rPr lang="en-US" dirty="0" smtClean="0"/>
              <a:t>Experiment 2 - Procedure</a:t>
            </a:r>
            <a:endParaRPr lang="en-US" dirty="0"/>
          </a:p>
        </p:txBody>
      </p:sp>
      <p:pic>
        <p:nvPicPr>
          <p:cNvPr id="4" name="Picture 3"/>
          <p:cNvPicPr>
            <a:picLocks noChangeAspect="1"/>
          </p:cNvPicPr>
          <p:nvPr/>
        </p:nvPicPr>
        <p:blipFill>
          <a:blip r:embed="rId2"/>
          <a:stretch>
            <a:fillRect/>
          </a:stretch>
        </p:blipFill>
        <p:spPr>
          <a:xfrm>
            <a:off x="670819" y="1970578"/>
            <a:ext cx="3148013" cy="4300538"/>
          </a:xfrm>
          <a:prstGeom prst="rect">
            <a:avLst/>
          </a:prstGeom>
        </p:spPr>
      </p:pic>
      <p:pic>
        <p:nvPicPr>
          <p:cNvPr id="5" name="Picture 4"/>
          <p:cNvPicPr>
            <a:picLocks noChangeAspect="1"/>
          </p:cNvPicPr>
          <p:nvPr/>
        </p:nvPicPr>
        <p:blipFill>
          <a:blip r:embed="rId3"/>
          <a:stretch>
            <a:fillRect/>
          </a:stretch>
        </p:blipFill>
        <p:spPr>
          <a:xfrm>
            <a:off x="5010967" y="1970578"/>
            <a:ext cx="3162300" cy="4305300"/>
          </a:xfrm>
          <a:prstGeom prst="rect">
            <a:avLst/>
          </a:prstGeom>
        </p:spPr>
      </p:pic>
      <p:sp>
        <p:nvSpPr>
          <p:cNvPr id="6" name="TextBox 5"/>
          <p:cNvSpPr txBox="1"/>
          <p:nvPr/>
        </p:nvSpPr>
        <p:spPr>
          <a:xfrm>
            <a:off x="1453459" y="1613394"/>
            <a:ext cx="1648208" cy="338554"/>
          </a:xfrm>
          <a:prstGeom prst="rect">
            <a:avLst/>
          </a:prstGeom>
          <a:noFill/>
        </p:spPr>
        <p:txBody>
          <a:bodyPr wrap="none" rtlCol="0">
            <a:spAutoFit/>
          </a:bodyPr>
          <a:lstStyle/>
          <a:p>
            <a:r>
              <a:rPr lang="en-US" sz="1600" dirty="0" smtClean="0"/>
              <a:t>- With markup -</a:t>
            </a:r>
            <a:endParaRPr lang="en-US" sz="1600" dirty="0"/>
          </a:p>
        </p:txBody>
      </p:sp>
      <p:sp>
        <p:nvSpPr>
          <p:cNvPr id="7" name="TextBox 6"/>
          <p:cNvSpPr txBox="1"/>
          <p:nvPr/>
        </p:nvSpPr>
        <p:spPr>
          <a:xfrm>
            <a:off x="5825444" y="1613394"/>
            <a:ext cx="1875835" cy="338554"/>
          </a:xfrm>
          <a:prstGeom prst="rect">
            <a:avLst/>
          </a:prstGeom>
          <a:noFill/>
        </p:spPr>
        <p:txBody>
          <a:bodyPr wrap="none" rtlCol="0">
            <a:spAutoFit/>
          </a:bodyPr>
          <a:lstStyle/>
          <a:p>
            <a:r>
              <a:rPr lang="en-US" sz="1600" dirty="0" smtClean="0"/>
              <a:t>- Without markup -</a:t>
            </a:r>
            <a:endParaRPr lang="en-US" sz="1600" dirty="0"/>
          </a:p>
        </p:txBody>
      </p:sp>
    </p:spTree>
    <p:extLst>
      <p:ext uri="{BB962C8B-B14F-4D97-AF65-F5344CB8AC3E}">
        <p14:creationId xmlns:p14="http://schemas.microsoft.com/office/powerpoint/2010/main" val="4711111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Workload (NASA-TLX) and preference</a:t>
            </a:r>
          </a:p>
        </p:txBody>
      </p:sp>
      <p:sp>
        <p:nvSpPr>
          <p:cNvPr id="3" name="Title 2"/>
          <p:cNvSpPr>
            <a:spLocks noGrp="1"/>
          </p:cNvSpPr>
          <p:nvPr>
            <p:ph type="title"/>
          </p:nvPr>
        </p:nvSpPr>
        <p:spPr/>
        <p:txBody>
          <a:bodyPr/>
          <a:lstStyle/>
          <a:p>
            <a:r>
              <a:rPr lang="en-US" dirty="0" smtClean="0"/>
              <a:t>Experiment 2 - Procedure</a:t>
            </a:r>
            <a:endParaRPr lang="en-US" dirty="0"/>
          </a:p>
        </p:txBody>
      </p:sp>
      <p:pic>
        <p:nvPicPr>
          <p:cNvPr id="4" name="Picture 3"/>
          <p:cNvPicPr>
            <a:picLocks noChangeAspect="1"/>
          </p:cNvPicPr>
          <p:nvPr/>
        </p:nvPicPr>
        <p:blipFill rotWithShape="1">
          <a:blip r:embed="rId2"/>
          <a:srcRect t="9023" b="5271"/>
          <a:stretch/>
        </p:blipFill>
        <p:spPr>
          <a:xfrm>
            <a:off x="2238065" y="1769424"/>
            <a:ext cx="5303520" cy="4619501"/>
          </a:xfrm>
          <a:prstGeom prst="rect">
            <a:avLst/>
          </a:prstGeom>
        </p:spPr>
      </p:pic>
    </p:spTree>
    <p:extLst>
      <p:ext uri="{BB962C8B-B14F-4D97-AF65-F5344CB8AC3E}">
        <p14:creationId xmlns:p14="http://schemas.microsoft.com/office/powerpoint/2010/main" val="3758908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smtClean="0"/>
              <a:t>Trust in automation</a:t>
            </a:r>
            <a:endParaRPr lang="en-US" dirty="0"/>
          </a:p>
        </p:txBody>
      </p:sp>
      <p:sp>
        <p:nvSpPr>
          <p:cNvPr id="3" name="Title 2"/>
          <p:cNvSpPr>
            <a:spLocks noGrp="1"/>
          </p:cNvSpPr>
          <p:nvPr>
            <p:ph type="title"/>
          </p:nvPr>
        </p:nvSpPr>
        <p:spPr/>
        <p:txBody>
          <a:bodyPr/>
          <a:lstStyle/>
          <a:p>
            <a:r>
              <a:rPr lang="en-US" dirty="0" smtClean="0"/>
              <a:t>Experiment 2 - Procedure</a:t>
            </a:r>
            <a:endParaRPr lang="en-US" dirty="0"/>
          </a:p>
        </p:txBody>
      </p:sp>
      <p:pic>
        <p:nvPicPr>
          <p:cNvPr id="4" name="Picture 3"/>
          <p:cNvPicPr>
            <a:picLocks noChangeAspect="1"/>
          </p:cNvPicPr>
          <p:nvPr/>
        </p:nvPicPr>
        <p:blipFill rotWithShape="1">
          <a:blip r:embed="rId2"/>
          <a:srcRect t="25411" b="7983"/>
          <a:stretch/>
        </p:blipFill>
        <p:spPr>
          <a:xfrm>
            <a:off x="511914" y="1805050"/>
            <a:ext cx="7955280" cy="3289465"/>
          </a:xfrm>
          <a:prstGeom prst="rect">
            <a:avLst/>
          </a:prstGeom>
        </p:spPr>
      </p:pic>
    </p:spTree>
    <p:extLst>
      <p:ext uri="{BB962C8B-B14F-4D97-AF65-F5344CB8AC3E}">
        <p14:creationId xmlns:p14="http://schemas.microsoft.com/office/powerpoint/2010/main" val="1849869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Experiment 2 - Results</a:t>
            </a:r>
            <a:endParaRPr lang="en-US" dirty="0"/>
          </a:p>
        </p:txBody>
      </p:sp>
      <p:pic>
        <p:nvPicPr>
          <p:cNvPr id="4" name="Picture 3"/>
          <p:cNvPicPr>
            <a:picLocks noChangeAspect="1"/>
          </p:cNvPicPr>
          <p:nvPr/>
        </p:nvPicPr>
        <p:blipFill>
          <a:blip r:embed="rId3"/>
          <a:stretch>
            <a:fillRect/>
          </a:stretch>
        </p:blipFill>
        <p:spPr>
          <a:xfrm>
            <a:off x="1814029" y="1486751"/>
            <a:ext cx="5029200" cy="3450325"/>
          </a:xfrm>
          <a:prstGeom prst="rect">
            <a:avLst/>
          </a:prstGeom>
        </p:spPr>
      </p:pic>
      <p:sp>
        <p:nvSpPr>
          <p:cNvPr id="6" name="Content Placeholder 1"/>
          <p:cNvSpPr>
            <a:spLocks noGrp="1"/>
          </p:cNvSpPr>
          <p:nvPr>
            <p:ph idx="1"/>
          </p:nvPr>
        </p:nvSpPr>
        <p:spPr>
          <a:xfrm>
            <a:off x="442210" y="4857007"/>
            <a:ext cx="8094688" cy="1086591"/>
          </a:xfrm>
        </p:spPr>
        <p:txBody>
          <a:bodyPr/>
          <a:lstStyle/>
          <a:p>
            <a:r>
              <a:rPr lang="en-US" dirty="0" smtClean="0"/>
              <a:t>No significant difference in accuracy, </a:t>
            </a:r>
            <a:r>
              <a:rPr lang="en-US" dirty="0" smtClean="0"/>
              <a:t>speed</a:t>
            </a:r>
          </a:p>
          <a:p>
            <a:pPr lvl="1"/>
            <a:r>
              <a:rPr lang="en-US" dirty="0" smtClean="0"/>
              <a:t>Again, participants are more accurate when in preferred condition</a:t>
            </a:r>
            <a:endParaRPr lang="en-US" dirty="0" smtClean="0"/>
          </a:p>
          <a:p>
            <a:r>
              <a:rPr lang="en-US" dirty="0" smtClean="0"/>
              <a:t>Felt more successful with Markup</a:t>
            </a:r>
          </a:p>
          <a:p>
            <a:r>
              <a:rPr lang="en-US" dirty="0" smtClean="0"/>
              <a:t>Preferred Markup</a:t>
            </a:r>
          </a:p>
        </p:txBody>
      </p:sp>
    </p:spTree>
    <p:extLst>
      <p:ext uri="{BB962C8B-B14F-4D97-AF65-F5344CB8AC3E}">
        <p14:creationId xmlns:p14="http://schemas.microsoft.com/office/powerpoint/2010/main" val="24482179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Experiment 2 - Results</a:t>
            </a:r>
            <a:endParaRPr lang="en-US" dirty="0"/>
          </a:p>
        </p:txBody>
      </p:sp>
      <p:sp>
        <p:nvSpPr>
          <p:cNvPr id="5" name="Rectangle 4"/>
          <p:cNvSpPr/>
          <p:nvPr/>
        </p:nvSpPr>
        <p:spPr>
          <a:xfrm>
            <a:off x="6222379" y="2702999"/>
            <a:ext cx="1774447" cy="276999"/>
          </a:xfrm>
          <a:prstGeom prst="rect">
            <a:avLst/>
          </a:prstGeom>
        </p:spPr>
        <p:txBody>
          <a:bodyPr wrap="square">
            <a:spAutoFit/>
          </a:bodyPr>
          <a:lstStyle/>
          <a:p>
            <a:r>
              <a:rPr lang="en-GB" sz="1200" dirty="0">
                <a:latin typeface="Times" panose="02020603050405020304" pitchFamily="18" charset="0"/>
                <a:ea typeface="Times New Roman" panose="02020603050405020304" pitchFamily="18" charset="0"/>
                <a:cs typeface="Times New Roman" panose="02020603050405020304" pitchFamily="18" charset="0"/>
              </a:rPr>
              <a:t>Co</a:t>
            </a:r>
            <a:r>
              <a:rPr lang="en-US" sz="1200" dirty="0" err="1">
                <a:latin typeface="Times" panose="02020603050405020304" pitchFamily="18" charset="0"/>
                <a:ea typeface="Times New Roman" panose="02020603050405020304" pitchFamily="18" charset="0"/>
                <a:cs typeface="Times New Roman" panose="02020603050405020304" pitchFamily="18" charset="0"/>
              </a:rPr>
              <a:t>rrelation</a:t>
            </a:r>
            <a:r>
              <a:rPr lang="en-US" sz="1200" dirty="0">
                <a:latin typeface="Times" panose="02020603050405020304" pitchFamily="18" charset="0"/>
                <a:ea typeface="Times New Roman" panose="02020603050405020304" pitchFamily="18" charset="0"/>
                <a:cs typeface="Times New Roman" panose="02020603050405020304" pitchFamily="18" charset="0"/>
              </a:rPr>
              <a:t> </a:t>
            </a:r>
            <a:r>
              <a:rPr lang="en-US" sz="1200" dirty="0" smtClean="0">
                <a:latin typeface="Times" panose="02020603050405020304" pitchFamily="18" charset="0"/>
                <a:ea typeface="Times New Roman" panose="02020603050405020304" pitchFamily="18" charset="0"/>
                <a:cs typeface="Times New Roman" panose="02020603050405020304" pitchFamily="18" charset="0"/>
              </a:rPr>
              <a:t>coefficients</a:t>
            </a:r>
            <a:endParaRPr lang="en-US" sz="1200" dirty="0"/>
          </a:p>
        </p:txBody>
      </p:sp>
      <p:pic>
        <p:nvPicPr>
          <p:cNvPr id="10" name="Picture 9"/>
          <p:cNvPicPr>
            <a:picLocks noChangeAspect="1"/>
          </p:cNvPicPr>
          <p:nvPr/>
        </p:nvPicPr>
        <p:blipFill>
          <a:blip r:embed="rId3"/>
          <a:stretch>
            <a:fillRect/>
          </a:stretch>
        </p:blipFill>
        <p:spPr>
          <a:xfrm>
            <a:off x="5510198" y="3114452"/>
            <a:ext cx="2923191" cy="3474720"/>
          </a:xfrm>
          <a:prstGeom prst="rect">
            <a:avLst/>
          </a:prstGeom>
        </p:spPr>
      </p:pic>
      <p:graphicFrame>
        <p:nvGraphicFramePr>
          <p:cNvPr id="16" name="Content Placeholder 3"/>
          <p:cNvGraphicFramePr>
            <a:graphicFrameLocks noGrp="1"/>
          </p:cNvGraphicFramePr>
          <p:nvPr>
            <p:ph idx="1"/>
            <p:extLst>
              <p:ext uri="{D42A27DB-BD31-4B8C-83A1-F6EECF244321}">
                <p14:modId xmlns:p14="http://schemas.microsoft.com/office/powerpoint/2010/main" val="598328942"/>
              </p:ext>
            </p:extLst>
          </p:nvPr>
        </p:nvGraphicFramePr>
        <p:xfrm>
          <a:off x="759138" y="2925776"/>
          <a:ext cx="3653790" cy="3703320"/>
        </p:xfrm>
        <a:graphic>
          <a:graphicData uri="http://schemas.openxmlformats.org/drawingml/2006/table">
            <a:tbl>
              <a:tblPr>
                <a:tableStyleId>{9D7B26C5-4107-4FEC-AEDC-1716B250A1EF}</a:tableStyleId>
              </a:tblPr>
              <a:tblGrid>
                <a:gridCol w="681990"/>
                <a:gridCol w="1870784"/>
                <a:gridCol w="472366"/>
                <a:gridCol w="628650"/>
              </a:tblGrid>
              <a:tr h="270933">
                <a:tc>
                  <a:txBody>
                    <a:bodyPr/>
                    <a:lstStyle/>
                    <a:p>
                      <a:pPr marL="0" marR="0" indent="0" algn="just">
                        <a:spcBef>
                          <a:spcPts val="0"/>
                        </a:spcBef>
                        <a:spcAft>
                          <a:spcPts val="0"/>
                        </a:spcAft>
                      </a:pPr>
                      <a:r>
                        <a:rPr lang="en-US" sz="900" dirty="0">
                          <a:effectLst/>
                        </a:rPr>
                        <a:t>Question</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1270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dirty="0">
                          <a:effectLst/>
                        </a:rPr>
                        <a:t>Response category</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1270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dirty="0">
                          <a:effectLst/>
                        </a:rPr>
                        <a:t>N</a:t>
                      </a:r>
                      <a:endParaRPr lang="en-US" sz="1000" dirty="0">
                        <a:effectLst/>
                      </a:endParaRPr>
                    </a:p>
                    <a:p>
                      <a:pPr marL="0" marR="0" indent="0" algn="just">
                        <a:spcBef>
                          <a:spcPts val="0"/>
                        </a:spcBef>
                        <a:spcAft>
                          <a:spcPts val="0"/>
                        </a:spcAft>
                      </a:pPr>
                      <a:r>
                        <a:rPr lang="en-US" sz="900" dirty="0">
                          <a:effectLst/>
                        </a:rPr>
                        <a:t>(All)</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1270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dirty="0">
                          <a:effectLst/>
                        </a:rPr>
                        <a:t>N</a:t>
                      </a:r>
                      <a:endParaRPr lang="en-US" sz="1000" dirty="0">
                        <a:effectLst/>
                      </a:endParaRPr>
                    </a:p>
                    <a:p>
                      <a:pPr marL="0" marR="0" indent="0" algn="just">
                        <a:spcBef>
                          <a:spcPts val="0"/>
                        </a:spcBef>
                        <a:spcAft>
                          <a:spcPts val="0"/>
                        </a:spcAft>
                      </a:pPr>
                      <a:r>
                        <a:rPr lang="en-US" sz="900" dirty="0">
                          <a:effectLst/>
                        </a:rPr>
                        <a:t>(Filtered)</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12700" cap="flat" cmpd="sng" algn="ctr">
                      <a:solidFill>
                        <a:schemeClr val="tx1"/>
                      </a:solidFill>
                      <a:prstDash val="solid"/>
                      <a:round/>
                      <a:headEnd type="none" w="med" len="med"/>
                      <a:tailEnd type="none" w="med" len="med"/>
                    </a:lnB>
                  </a:tcPr>
                </a:tc>
              </a:tr>
              <a:tr h="135467">
                <a:tc>
                  <a:txBody>
                    <a:bodyPr/>
                    <a:lstStyle/>
                    <a:p>
                      <a:pPr marL="0" marR="0" indent="0" algn="just">
                        <a:spcBef>
                          <a:spcPts val="0"/>
                        </a:spcBef>
                        <a:spcAft>
                          <a:spcPts val="0"/>
                        </a:spcAft>
                      </a:pPr>
                      <a:r>
                        <a:rPr lang="en-US" sz="900">
                          <a:effectLst/>
                        </a:rPr>
                        <a:t>Language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1270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No</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1270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dirty="0">
                          <a:effectLst/>
                        </a:rPr>
                        <a:t>27</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1270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dirty="0">
                          <a:effectLst/>
                        </a:rPr>
                        <a:t>16</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12700" cap="flat" cmpd="sng" algn="ctr">
                      <a:solidFill>
                        <a:schemeClr val="tx1"/>
                      </a:solidFill>
                      <a:prstDash val="solid"/>
                      <a:round/>
                      <a:headEnd type="none" w="med" len="med"/>
                      <a:tailEnd type="none" w="med" len="med"/>
                    </a:lnT>
                  </a:tcPr>
                </a:tc>
              </a:tr>
              <a:tr h="135467">
                <a:tc>
                  <a:txBody>
                    <a:bodyPr/>
                    <a:lstStyle/>
                    <a:p>
                      <a:pPr marL="0" marR="0" indent="0" algn="just">
                        <a:spcBef>
                          <a:spcPts val="0"/>
                        </a:spcBef>
                        <a:spcAft>
                          <a:spcPts val="0"/>
                        </a:spcAft>
                      </a:pPr>
                      <a:r>
                        <a:rPr lang="en-US" sz="900" dirty="0">
                          <a:effectLst/>
                        </a:rPr>
                        <a:t> </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Yes</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172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133</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r>
              <a:tr h="135467">
                <a:tc>
                  <a:txBody>
                    <a:bodyPr/>
                    <a:lstStyle/>
                    <a:p>
                      <a:pPr marL="0" marR="0" indent="0" algn="just">
                        <a:spcBef>
                          <a:spcPts val="0"/>
                        </a:spcBef>
                        <a:spcAft>
                          <a:spcPts val="0"/>
                        </a:spcAft>
                      </a:pPr>
                      <a:r>
                        <a:rPr lang="en-US" sz="900">
                          <a:effectLst/>
                        </a:rPr>
                        <a:t>Gender</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Female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86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66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Male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112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82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dirty="0">
                          <a:effectLst/>
                        </a:rPr>
                        <a:t> </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Other/prefer not to say</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1</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r>
              <a:tr h="135467">
                <a:tc>
                  <a:txBody>
                    <a:bodyPr/>
                    <a:lstStyle/>
                    <a:p>
                      <a:pPr marL="0" marR="0" indent="0" algn="just">
                        <a:spcBef>
                          <a:spcPts val="0"/>
                        </a:spcBef>
                        <a:spcAft>
                          <a:spcPts val="0"/>
                        </a:spcAft>
                      </a:pPr>
                      <a:r>
                        <a:rPr lang="en-US" sz="900">
                          <a:effectLst/>
                        </a:rPr>
                        <a:t>Age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18-29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78</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45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30-49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91</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78</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50-64</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25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22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dirty="0">
                          <a:effectLst/>
                        </a:rPr>
                        <a:t> </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65+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4</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r>
              <a:tr h="135467">
                <a:tc>
                  <a:txBody>
                    <a:bodyPr/>
                    <a:lstStyle/>
                    <a:p>
                      <a:pPr marL="0" marR="0" indent="0" algn="just">
                        <a:spcBef>
                          <a:spcPts val="0"/>
                        </a:spcBef>
                        <a:spcAft>
                          <a:spcPts val="0"/>
                        </a:spcAft>
                      </a:pPr>
                      <a:r>
                        <a:rPr lang="en-US" sz="900">
                          <a:effectLst/>
                        </a:rPr>
                        <a:t>Education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High school graduate or less</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20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15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Some college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70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55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dirty="0">
                          <a:effectLst/>
                        </a:rPr>
                        <a:t> </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College degree or more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109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c>
                  <a:txBody>
                    <a:bodyPr/>
                    <a:lstStyle/>
                    <a:p>
                      <a:pPr marL="0" marR="0" indent="0" algn="just">
                        <a:spcBef>
                          <a:spcPts val="0"/>
                        </a:spcBef>
                        <a:spcAft>
                          <a:spcPts val="0"/>
                        </a:spcAft>
                      </a:pPr>
                      <a:r>
                        <a:rPr lang="en-US" sz="900">
                          <a:effectLst/>
                        </a:rPr>
                        <a:t>79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B w="6350" cap="flat" cmpd="sng" algn="ctr">
                      <a:solidFill>
                        <a:schemeClr val="tx1"/>
                      </a:solidFill>
                      <a:prstDash val="solid"/>
                      <a:round/>
                      <a:headEnd type="none" w="med" len="med"/>
                      <a:tailEnd type="none" w="med" len="med"/>
                    </a:lnB>
                  </a:tcPr>
                </a:tc>
              </a:tr>
              <a:tr h="135467">
                <a:tc>
                  <a:txBody>
                    <a:bodyPr/>
                    <a:lstStyle/>
                    <a:p>
                      <a:pPr marL="0" marR="0" indent="0" algn="just">
                        <a:spcBef>
                          <a:spcPts val="0"/>
                        </a:spcBef>
                        <a:spcAft>
                          <a:spcPts val="0"/>
                        </a:spcAft>
                      </a:pPr>
                      <a:r>
                        <a:rPr lang="en-US" sz="900">
                          <a:effectLst/>
                        </a:rPr>
                        <a:t>Occupation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Science and technology</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67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c>
                  <a:txBody>
                    <a:bodyPr/>
                    <a:lstStyle/>
                    <a:p>
                      <a:pPr marL="0" marR="0" indent="0" algn="just">
                        <a:spcBef>
                          <a:spcPts val="0"/>
                        </a:spcBef>
                        <a:spcAft>
                          <a:spcPts val="0"/>
                        </a:spcAft>
                      </a:pPr>
                      <a:r>
                        <a:rPr lang="en-US" sz="900">
                          <a:effectLst/>
                        </a:rPr>
                        <a:t>56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lnT w="6350" cap="flat" cmpd="sng" algn="ctr">
                      <a:solidFill>
                        <a:schemeClr val="tx1"/>
                      </a:solidFill>
                      <a:prstDash val="solid"/>
                      <a:round/>
                      <a:headEnd type="none" w="med" len="med"/>
                      <a:tailEnd type="none" w="med" len="med"/>
                    </a:lnT>
                  </a:tcPr>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Arts, entertainment, and media</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Education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Legal</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13</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13</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Sales</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Food preparation and serving</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dirty="0">
                          <a:effectLst/>
                        </a:rPr>
                        <a:t>Office administration and support</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3</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3</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Accounting and finance</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20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Healthcare and medical</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7</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Industry and manufacturing</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18</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11</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Law enforcement</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9</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Business management</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11</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10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135467">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Other</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a:effectLst/>
                        </a:rPr>
                        <a:t>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just">
                        <a:spcBef>
                          <a:spcPts val="0"/>
                        </a:spcBef>
                        <a:spcAft>
                          <a:spcPts val="0"/>
                        </a:spcAft>
                      </a:pPr>
                      <a:r>
                        <a:rPr lang="en-US" sz="900" dirty="0">
                          <a:effectLst/>
                        </a:rPr>
                        <a:t>0</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bl>
          </a:graphicData>
        </a:graphic>
      </p:graphicFrame>
      <p:sp>
        <p:nvSpPr>
          <p:cNvPr id="17" name="Rounded Rectangle 16"/>
          <p:cNvSpPr/>
          <p:nvPr/>
        </p:nvSpPr>
        <p:spPr>
          <a:xfrm>
            <a:off x="1360449" y="4969542"/>
            <a:ext cx="2732049" cy="1703907"/>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Content Placeholder 1"/>
          <p:cNvSpPr txBox="1">
            <a:spLocks/>
          </p:cNvSpPr>
          <p:nvPr/>
        </p:nvSpPr>
        <p:spPr bwMode="auto">
          <a:xfrm>
            <a:off x="442210" y="1228725"/>
            <a:ext cx="8094688" cy="1596091"/>
          </a:xfrm>
          <a:prstGeom prst="rect">
            <a:avLst/>
          </a:prstGeom>
          <a:noFill/>
          <a:ln w="9525">
            <a:noFill/>
            <a:miter lim="800000"/>
            <a:headEnd/>
            <a:tailEnd/>
          </a:ln>
        </p:spPr>
        <p:txBody>
          <a:bodyPr/>
          <a:lstStyle>
            <a:lvl1pPr marL="230188" indent="-230188" algn="l" rtl="0" eaLnBrk="1" fontAlgn="base" hangingPunct="1">
              <a:spcBef>
                <a:spcPts val="0"/>
              </a:spcBef>
              <a:spcAft>
                <a:spcPct val="0"/>
              </a:spcAft>
              <a:buFont typeface="Arial" panose="020B0604020202020204" pitchFamily="34" charset="0"/>
              <a:buChar char="•"/>
              <a:defRPr sz="1800" b="1" kern="1200">
                <a:solidFill>
                  <a:schemeClr val="tx1"/>
                </a:solidFill>
                <a:latin typeface="Arial" pitchFamily="34" charset="0"/>
                <a:ea typeface="ＭＳ Ｐゴシック" charset="0"/>
                <a:cs typeface="Arial" pitchFamily="34" charset="0"/>
              </a:defRPr>
            </a:lvl1pPr>
            <a:lvl2pPr marL="461963" indent="-233363" algn="l" rtl="0" eaLnBrk="1" fontAlgn="base" hangingPunct="1">
              <a:spcBef>
                <a:spcPts val="0"/>
              </a:spcBef>
              <a:spcAft>
                <a:spcPct val="0"/>
              </a:spcAft>
              <a:buFont typeface="Arial" charset="0"/>
              <a:buChar char="–"/>
              <a:defRPr sz="1600" kern="1200">
                <a:solidFill>
                  <a:schemeClr val="tx1"/>
                </a:solidFill>
                <a:latin typeface="Arial" pitchFamily="34" charset="0"/>
                <a:ea typeface="Arial" charset="0"/>
                <a:cs typeface="Arial" pitchFamily="34" charset="0"/>
              </a:defRPr>
            </a:lvl2pPr>
            <a:lvl3pPr marL="684213" indent="-222250" algn="l" rtl="0" eaLnBrk="1" fontAlgn="base" hangingPunct="1">
              <a:spcBef>
                <a:spcPts val="0"/>
              </a:spcBef>
              <a:spcAft>
                <a:spcPts val="1800"/>
              </a:spcAft>
              <a:buFont typeface="Arial" charset="0"/>
              <a:buChar char="•"/>
              <a:defRPr sz="1400" kern="1200">
                <a:solidFill>
                  <a:schemeClr val="tx1"/>
                </a:solidFill>
                <a:latin typeface="Arial" pitchFamily="34" charset="0"/>
                <a:ea typeface="Arial" charset="0"/>
                <a:cs typeface="Arial" pitchFamily="34" charset="0"/>
              </a:defRPr>
            </a:lvl3pPr>
            <a:lvl4pPr marL="13716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4pPr>
            <a:lvl5pPr marL="18288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smtClean="0"/>
              <a:t>Demographics and correlation</a:t>
            </a:r>
          </a:p>
          <a:p>
            <a:r>
              <a:rPr lang="en-US" sz="1600" dirty="0" smtClean="0"/>
              <a:t>Trust </a:t>
            </a:r>
            <a:r>
              <a:rPr lang="en-US" sz="1600" dirty="0"/>
              <a:t>in </a:t>
            </a:r>
            <a:r>
              <a:rPr lang="en-US" sz="1600" dirty="0" smtClean="0"/>
              <a:t>automation ~ preference for markup: </a:t>
            </a:r>
            <a:endParaRPr lang="en-US" sz="1600" dirty="0" smtClean="0"/>
          </a:p>
          <a:p>
            <a:pPr lvl="1"/>
            <a:r>
              <a:rPr lang="en-US" dirty="0" smtClean="0"/>
              <a:t>r </a:t>
            </a:r>
            <a:r>
              <a:rPr lang="en-US" dirty="0"/>
              <a:t>= </a:t>
            </a:r>
            <a:r>
              <a:rPr lang="en-US" dirty="0" smtClean="0"/>
              <a:t>0.39</a:t>
            </a:r>
            <a:endParaRPr lang="en-US" dirty="0"/>
          </a:p>
          <a:p>
            <a:r>
              <a:rPr lang="en-US" sz="1600" dirty="0" smtClean="0"/>
              <a:t>Trust </a:t>
            </a:r>
            <a:r>
              <a:rPr lang="en-US" sz="1600" dirty="0"/>
              <a:t>in automation ~ objective performance </a:t>
            </a:r>
            <a:r>
              <a:rPr lang="en-US" sz="1600" dirty="0" smtClean="0"/>
              <a:t>measures</a:t>
            </a:r>
          </a:p>
          <a:p>
            <a:pPr lvl="1"/>
            <a:r>
              <a:rPr lang="en-US" dirty="0" smtClean="0"/>
              <a:t>accuracy</a:t>
            </a:r>
            <a:r>
              <a:rPr lang="en-US" dirty="0"/>
              <a:t>: r = </a:t>
            </a:r>
            <a:r>
              <a:rPr lang="en-US" dirty="0" smtClean="0"/>
              <a:t>0.06</a:t>
            </a:r>
          </a:p>
          <a:p>
            <a:pPr lvl="1"/>
            <a:r>
              <a:rPr lang="en-US" dirty="0" smtClean="0"/>
              <a:t>response </a:t>
            </a:r>
            <a:r>
              <a:rPr lang="en-US" dirty="0"/>
              <a:t>time: r = -</a:t>
            </a:r>
            <a:r>
              <a:rPr lang="en-US" dirty="0" smtClean="0"/>
              <a:t>0.05</a:t>
            </a:r>
            <a:endParaRPr lang="en-US" dirty="0">
              <a:latin typeface="Times" panose="02020603050405020304" pitchFamily="18" charset="0"/>
              <a:ea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2571456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0" dirty="0" smtClean="0"/>
              <a:t>Results summary</a:t>
            </a:r>
          </a:p>
          <a:p>
            <a:pPr lvl="1"/>
            <a:r>
              <a:rPr lang="en-US" sz="1200" b="0" dirty="0" smtClean="0"/>
              <a:t>Experiment </a:t>
            </a:r>
            <a:r>
              <a:rPr lang="en-US" sz="1200" b="0" dirty="0"/>
              <a:t>1 </a:t>
            </a:r>
            <a:r>
              <a:rPr lang="en-US" sz="1200" b="0" dirty="0" smtClean="0"/>
              <a:t>- Instead </a:t>
            </a:r>
            <a:r>
              <a:rPr lang="en-US" sz="1200" b="0" dirty="0"/>
              <a:t>of helping, markup hurt performance and was </a:t>
            </a:r>
            <a:r>
              <a:rPr lang="en-US" sz="1200" b="0" dirty="0" err="1"/>
              <a:t>dispreferred</a:t>
            </a:r>
            <a:r>
              <a:rPr lang="en-US" sz="1200" b="0" dirty="0"/>
              <a:t> to plain text. </a:t>
            </a:r>
            <a:endParaRPr lang="en-US" sz="1200" b="0" dirty="0" smtClean="0"/>
          </a:p>
          <a:p>
            <a:pPr lvl="1"/>
            <a:r>
              <a:rPr lang="en-US" sz="1200" b="0" dirty="0" smtClean="0"/>
              <a:t>Experiment 2 – </a:t>
            </a:r>
            <a:r>
              <a:rPr lang="en-US" sz="1200" b="0" dirty="0" smtClean="0"/>
              <a:t>Even with “</a:t>
            </a:r>
            <a:r>
              <a:rPr lang="en-US" sz="1200" dirty="0" smtClean="0"/>
              <a:t>ideal” markup, n</a:t>
            </a:r>
            <a:r>
              <a:rPr lang="en-US" sz="1200" b="0" dirty="0" smtClean="0"/>
              <a:t>o </a:t>
            </a:r>
            <a:r>
              <a:rPr lang="en-US" sz="1200" b="0" dirty="0" smtClean="0"/>
              <a:t>difference in performance, </a:t>
            </a:r>
            <a:r>
              <a:rPr lang="en-US" sz="1200" b="0" dirty="0" smtClean="0"/>
              <a:t>but markup </a:t>
            </a:r>
            <a:r>
              <a:rPr lang="en-US" sz="1200" b="0" dirty="0" smtClean="0"/>
              <a:t>preferred.</a:t>
            </a:r>
          </a:p>
          <a:p>
            <a:endParaRPr lang="en-US" b="0" dirty="0" smtClean="0"/>
          </a:p>
          <a:p>
            <a:r>
              <a:rPr lang="en-US" b="0" dirty="0" smtClean="0"/>
              <a:t>Warning to researchers trusting that automated IE will be helpful to end user</a:t>
            </a:r>
          </a:p>
          <a:p>
            <a:endParaRPr lang="en-US" b="0" dirty="0" smtClean="0"/>
          </a:p>
          <a:p>
            <a:r>
              <a:rPr lang="en-US" b="0" dirty="0" smtClean="0"/>
              <a:t>Objective performance vs. Subjective experience</a:t>
            </a:r>
          </a:p>
          <a:p>
            <a:pPr lvl="1"/>
            <a:r>
              <a:rPr lang="en-US" sz="1200" b="0" dirty="0" smtClean="0"/>
              <a:t>Even if markup does lead to better performance, it may improve/hurt experience</a:t>
            </a:r>
          </a:p>
          <a:p>
            <a:endParaRPr lang="en-US" b="0" dirty="0" smtClean="0"/>
          </a:p>
          <a:p>
            <a:r>
              <a:rPr lang="en-US" b="0" dirty="0" smtClean="0"/>
              <a:t>Trust in automation</a:t>
            </a:r>
          </a:p>
          <a:p>
            <a:pPr lvl="1"/>
            <a:r>
              <a:rPr lang="en-US" sz="1200" dirty="0" smtClean="0"/>
              <a:t>Correlation with preference</a:t>
            </a:r>
          </a:p>
          <a:p>
            <a:pPr lvl="1"/>
            <a:endParaRPr lang="en-US" sz="1200" b="0" dirty="0" smtClean="0"/>
          </a:p>
          <a:p>
            <a:endParaRPr lang="en-US" b="0" dirty="0" smtClean="0"/>
          </a:p>
          <a:p>
            <a:r>
              <a:rPr lang="en-US" b="0" dirty="0" smtClean="0"/>
              <a:t>Filtering</a:t>
            </a:r>
            <a:endParaRPr lang="en-US" b="0" dirty="0" smtClean="0"/>
          </a:p>
          <a:p>
            <a:pPr lvl="1"/>
            <a:r>
              <a:rPr lang="en-US" sz="1200" b="0" dirty="0" smtClean="0"/>
              <a:t>These </a:t>
            </a:r>
            <a:r>
              <a:rPr lang="en-US" sz="1200" b="0" dirty="0"/>
              <a:t>were responses that were too quick to represent true attempts to read the texts and identify the hypothetical adversary </a:t>
            </a:r>
            <a:r>
              <a:rPr lang="en-US" sz="1200" b="0" dirty="0" smtClean="0"/>
              <a:t>attack.</a:t>
            </a:r>
          </a:p>
          <a:p>
            <a:pPr lvl="1"/>
            <a:r>
              <a:rPr lang="en-US" sz="1200" b="0" dirty="0" smtClean="0"/>
              <a:t>These </a:t>
            </a:r>
            <a:r>
              <a:rPr lang="en-US" sz="1200" b="0" dirty="0"/>
              <a:t>participants </a:t>
            </a:r>
            <a:r>
              <a:rPr lang="en-US" sz="1200" b="0" dirty="0" smtClean="0"/>
              <a:t>were </a:t>
            </a:r>
            <a:r>
              <a:rPr lang="en-US" sz="1200" b="0" dirty="0"/>
              <a:t>roughly twice as likely to report that English was not their native </a:t>
            </a:r>
            <a:r>
              <a:rPr lang="en-US" sz="1200" b="0" dirty="0" smtClean="0"/>
              <a:t>language, often </a:t>
            </a:r>
            <a:r>
              <a:rPr lang="en-US" sz="1200" b="0" dirty="0"/>
              <a:t>provided incoherent free-text strategy descriptions. </a:t>
            </a:r>
            <a:endParaRPr lang="en-US" sz="1200" b="0" dirty="0" smtClean="0"/>
          </a:p>
          <a:p>
            <a:pPr lvl="1"/>
            <a:r>
              <a:rPr lang="en-US" sz="1200" b="0" dirty="0" smtClean="0"/>
              <a:t>Are </a:t>
            </a:r>
            <a:r>
              <a:rPr lang="en-US" sz="1200" b="0" dirty="0" err="1" smtClean="0"/>
              <a:t>Turkers</a:t>
            </a:r>
            <a:r>
              <a:rPr lang="en-US" sz="1200" b="0" dirty="0" smtClean="0"/>
              <a:t> </a:t>
            </a:r>
            <a:r>
              <a:rPr lang="en-US" sz="1200" b="0" dirty="0"/>
              <a:t>generally not willing to put in the work necessary to do well at this </a:t>
            </a:r>
            <a:r>
              <a:rPr lang="en-US" sz="1200" b="0" dirty="0" smtClean="0"/>
              <a:t>task?</a:t>
            </a:r>
          </a:p>
          <a:p>
            <a:pPr lvl="2"/>
            <a:r>
              <a:rPr lang="en-US" sz="1050" dirty="0" smtClean="0"/>
              <a:t>This population</a:t>
            </a:r>
            <a:r>
              <a:rPr lang="en-US" sz="1050" b="0" dirty="0" smtClean="0"/>
              <a:t> </a:t>
            </a:r>
            <a:r>
              <a:rPr lang="en-US" sz="1050" b="0" dirty="0"/>
              <a:t>does not necessarily predict the performance of any other population, </a:t>
            </a:r>
            <a:r>
              <a:rPr lang="en-US" sz="1050" b="0" dirty="0" smtClean="0"/>
              <a:t>important </a:t>
            </a:r>
            <a:r>
              <a:rPr lang="en-US" sz="1050" b="0" dirty="0"/>
              <a:t>to include the specific intended end user in the testing cycle.</a:t>
            </a:r>
          </a:p>
          <a:p>
            <a:endParaRPr lang="en-US" b="0" dirty="0"/>
          </a:p>
        </p:txBody>
      </p:sp>
      <p:sp>
        <p:nvSpPr>
          <p:cNvPr id="3" name="Title 2"/>
          <p:cNvSpPr>
            <a:spLocks noGrp="1"/>
          </p:cNvSpPr>
          <p:nvPr>
            <p:ph type="title"/>
          </p:nvPr>
        </p:nvSpPr>
        <p:spPr/>
        <p:txBody>
          <a:bodyPr/>
          <a:lstStyle/>
          <a:p>
            <a:r>
              <a:rPr lang="en-US" dirty="0" smtClean="0"/>
              <a:t>Discussion</a:t>
            </a:r>
            <a:endParaRPr lang="en-US" dirty="0"/>
          </a:p>
        </p:txBody>
      </p:sp>
    </p:spTree>
    <p:extLst>
      <p:ext uri="{BB962C8B-B14F-4D97-AF65-F5344CB8AC3E}">
        <p14:creationId xmlns:p14="http://schemas.microsoft.com/office/powerpoint/2010/main" val="25996526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lvl="0"/>
            <a:r>
              <a:rPr lang="en-US" dirty="0" smtClean="0"/>
              <a:t>Coauthors</a:t>
            </a:r>
          </a:p>
          <a:p>
            <a:pPr lvl="1"/>
            <a:r>
              <a:rPr lang="en-US" dirty="0" smtClean="0"/>
              <a:t>Justine Caylor</a:t>
            </a:r>
          </a:p>
          <a:p>
            <a:pPr lvl="1"/>
            <a:r>
              <a:rPr lang="en-US" dirty="0" smtClean="0"/>
              <a:t>Michelle Vanni</a:t>
            </a:r>
          </a:p>
          <a:p>
            <a:pPr lvl="1"/>
            <a:r>
              <a:rPr lang="en-US" dirty="0" smtClean="0"/>
              <a:t>Sue Kase</a:t>
            </a:r>
            <a:endParaRPr lang="en-US" dirty="0" smtClean="0"/>
          </a:p>
        </p:txBody>
      </p:sp>
      <p:sp>
        <p:nvSpPr>
          <p:cNvPr id="3" name="Title 2"/>
          <p:cNvSpPr>
            <a:spLocks noGrp="1"/>
          </p:cNvSpPr>
          <p:nvPr>
            <p:ph type="title"/>
          </p:nvPr>
        </p:nvSpPr>
        <p:spPr/>
        <p:txBody>
          <a:bodyPr/>
          <a:lstStyle/>
          <a:p>
            <a:r>
              <a:rPr lang="en-US" dirty="0" smtClean="0"/>
              <a:t>Thanks!</a:t>
            </a:r>
            <a:endParaRPr lang="en-US" dirty="0"/>
          </a:p>
        </p:txBody>
      </p:sp>
    </p:spTree>
    <p:extLst>
      <p:ext uri="{BB962C8B-B14F-4D97-AF65-F5344CB8AC3E}">
        <p14:creationId xmlns:p14="http://schemas.microsoft.com/office/powerpoint/2010/main" val="7909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Preference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94553032"/>
              </p:ext>
            </p:extLst>
          </p:nvPr>
        </p:nvGraphicFramePr>
        <p:xfrm>
          <a:off x="4839802" y="3507379"/>
          <a:ext cx="3088005" cy="960120"/>
        </p:xfrm>
        <a:graphic>
          <a:graphicData uri="http://schemas.openxmlformats.org/drawingml/2006/table">
            <a:tbl>
              <a:tblPr>
                <a:tableStyleId>{9D7B26C5-4107-4FEC-AEDC-1716B250A1EF}</a:tableStyleId>
              </a:tblPr>
              <a:tblGrid>
                <a:gridCol w="722630"/>
                <a:gridCol w="420370"/>
                <a:gridCol w="571500"/>
                <a:gridCol w="548005"/>
                <a:gridCol w="825500"/>
              </a:tblGrid>
              <a:tr h="0">
                <a:tc>
                  <a:txBody>
                    <a:bodyPr/>
                    <a:lstStyle/>
                    <a:p>
                      <a:pPr marL="0" marR="0" indent="0" algn="just">
                        <a:spcBef>
                          <a:spcPts val="0"/>
                        </a:spcBef>
                        <a:spcAft>
                          <a:spcPts val="0"/>
                        </a:spcAft>
                      </a:pPr>
                      <a:r>
                        <a:rPr lang="en-US" sz="900" dirty="0">
                          <a:effectLst/>
                        </a:rPr>
                        <a:t>Preference</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Condition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Median accuracy count</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Median response time (min)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dirty="0" smtClean="0">
                          <a:effectLst/>
                        </a:rPr>
                        <a:t>Plain</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70</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a:effectLst/>
                        </a:rPr>
                        <a:t>Plain</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a:effectLst/>
                        </a:rPr>
                        <a:t>6</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7.00</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Markup</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5</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8.11</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dirty="0" smtClean="0">
                          <a:effectLst/>
                        </a:rPr>
                        <a:t>Markup</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178</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Plain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5</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4.89</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Markup</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6</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smtClean="0">
                          <a:effectLst/>
                        </a:rPr>
                        <a:t>6.39</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bl>
          </a:graphicData>
        </a:graphic>
      </p:graphicFrame>
      <p:sp>
        <p:nvSpPr>
          <p:cNvPr id="5" name="TextBox 4"/>
          <p:cNvSpPr txBox="1"/>
          <p:nvPr/>
        </p:nvSpPr>
        <p:spPr>
          <a:xfrm>
            <a:off x="5384173" y="2479962"/>
            <a:ext cx="1999265" cy="461665"/>
          </a:xfrm>
          <a:prstGeom prst="rect">
            <a:avLst/>
          </a:prstGeom>
          <a:noFill/>
        </p:spPr>
        <p:txBody>
          <a:bodyPr wrap="none" rtlCol="0">
            <a:spAutoFit/>
          </a:bodyPr>
          <a:lstStyle/>
          <a:p>
            <a:r>
              <a:rPr lang="en-US" dirty="0" smtClean="0"/>
              <a:t>Experiment 2</a:t>
            </a:r>
            <a:endParaRPr lang="en-US" dirty="0"/>
          </a:p>
        </p:txBody>
      </p:sp>
      <p:sp>
        <p:nvSpPr>
          <p:cNvPr id="6" name="TextBox 5"/>
          <p:cNvSpPr txBox="1"/>
          <p:nvPr/>
        </p:nvSpPr>
        <p:spPr>
          <a:xfrm>
            <a:off x="1442419" y="2479961"/>
            <a:ext cx="1999265" cy="461665"/>
          </a:xfrm>
          <a:prstGeom prst="rect">
            <a:avLst/>
          </a:prstGeom>
          <a:noFill/>
        </p:spPr>
        <p:txBody>
          <a:bodyPr wrap="none" rtlCol="0">
            <a:spAutoFit/>
          </a:bodyPr>
          <a:lstStyle/>
          <a:p>
            <a:r>
              <a:rPr lang="en-US" dirty="0" smtClean="0"/>
              <a:t>Experiment 1</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833800786"/>
              </p:ext>
            </p:extLst>
          </p:nvPr>
        </p:nvGraphicFramePr>
        <p:xfrm>
          <a:off x="898048" y="3507379"/>
          <a:ext cx="3088005" cy="960120"/>
        </p:xfrm>
        <a:graphic>
          <a:graphicData uri="http://schemas.openxmlformats.org/drawingml/2006/table">
            <a:tbl>
              <a:tblPr>
                <a:tableStyleId>{9D7B26C5-4107-4FEC-AEDC-1716B250A1EF}</a:tableStyleId>
              </a:tblPr>
              <a:tblGrid>
                <a:gridCol w="722630"/>
                <a:gridCol w="420370"/>
                <a:gridCol w="571500"/>
                <a:gridCol w="548005"/>
                <a:gridCol w="825500"/>
              </a:tblGrid>
              <a:tr h="0">
                <a:tc>
                  <a:txBody>
                    <a:bodyPr/>
                    <a:lstStyle/>
                    <a:p>
                      <a:pPr marL="0" marR="0" indent="0" algn="just">
                        <a:spcBef>
                          <a:spcPts val="0"/>
                        </a:spcBef>
                        <a:spcAft>
                          <a:spcPts val="0"/>
                        </a:spcAft>
                      </a:pPr>
                      <a:r>
                        <a:rPr lang="en-US" sz="900" dirty="0">
                          <a:effectLst/>
                        </a:rPr>
                        <a:t>Preference</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Condition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Median accuracy count</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Median response time (min)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Plain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66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Plain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6</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6.82</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Markup</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4</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7.15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Markup</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30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Plain</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4</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4.10</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r h="0">
                <a:tc>
                  <a:txBody>
                    <a:bodyPr/>
                    <a:lstStyle/>
                    <a:p>
                      <a:pPr marL="0" marR="0" indent="0" algn="just">
                        <a:spcBef>
                          <a:spcPts val="0"/>
                        </a:spcBef>
                        <a:spcAft>
                          <a:spcPts val="0"/>
                        </a:spcAft>
                      </a:pPr>
                      <a:r>
                        <a:rPr lang="en-US" sz="900">
                          <a:effectLst/>
                        </a:rPr>
                        <a:t> </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a:effectLst/>
                        </a:rPr>
                        <a:t> </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Markup</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a:effectLst/>
                        </a:rPr>
                        <a:t>5</a:t>
                      </a:r>
                      <a:endParaRPr lang="en-US" sz="100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c>
                  <a:txBody>
                    <a:bodyPr/>
                    <a:lstStyle/>
                    <a:p>
                      <a:pPr marL="0" marR="0" indent="0" algn="ctr">
                        <a:spcBef>
                          <a:spcPts val="0"/>
                        </a:spcBef>
                        <a:spcAft>
                          <a:spcPts val="0"/>
                        </a:spcAft>
                      </a:pPr>
                      <a:r>
                        <a:rPr lang="en-US" sz="900" dirty="0">
                          <a:effectLst/>
                        </a:rPr>
                        <a:t>5.25</a:t>
                      </a:r>
                      <a:endParaRPr lang="en-US" sz="10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44450" marR="44450" marT="0" marB="0"/>
                </a:tc>
              </a:tr>
            </a:tbl>
          </a:graphicData>
        </a:graphic>
      </p:graphicFrame>
      <p:sp>
        <p:nvSpPr>
          <p:cNvPr id="8" name="Content Placeholder 1"/>
          <p:cNvSpPr>
            <a:spLocks noGrp="1"/>
          </p:cNvSpPr>
          <p:nvPr>
            <p:ph idx="1"/>
          </p:nvPr>
        </p:nvSpPr>
        <p:spPr>
          <a:xfrm>
            <a:off x="442210" y="1228725"/>
            <a:ext cx="8094688" cy="4714874"/>
          </a:xfrm>
        </p:spPr>
        <p:txBody>
          <a:bodyPr/>
          <a:lstStyle/>
          <a:p>
            <a:pPr marL="0" indent="0">
              <a:buNone/>
            </a:pPr>
            <a:r>
              <a:rPr lang="en-US" dirty="0" smtClean="0"/>
              <a:t>Participants perform qualitatively more accurately in their preferred condition, though Plain is always slower.</a:t>
            </a:r>
            <a:endParaRPr lang="en-US" dirty="0" smtClean="0"/>
          </a:p>
        </p:txBody>
      </p:sp>
    </p:spTree>
    <p:extLst>
      <p:ext uri="{BB962C8B-B14F-4D97-AF65-F5344CB8AC3E}">
        <p14:creationId xmlns:p14="http://schemas.microsoft.com/office/powerpoint/2010/main" val="2167234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dirty="0" smtClean="0"/>
              <a:t>Correlations</a:t>
            </a:r>
            <a:endParaRPr lang="en-US" dirty="0"/>
          </a:p>
        </p:txBody>
      </p:sp>
      <p:pic>
        <p:nvPicPr>
          <p:cNvPr id="3" name="Image3"/>
          <p:cNvPicPr/>
          <p:nvPr/>
        </p:nvPicPr>
        <p:blipFill>
          <a:blip r:embed="rId2"/>
          <a:stretch>
            <a:fillRect/>
          </a:stretch>
        </p:blipFill>
        <p:spPr bwMode="auto">
          <a:xfrm>
            <a:off x="680806" y="4825525"/>
            <a:ext cx="2958465" cy="1826260"/>
          </a:xfrm>
          <a:prstGeom prst="rect">
            <a:avLst/>
          </a:prstGeom>
        </p:spPr>
      </p:pic>
      <p:pic>
        <p:nvPicPr>
          <p:cNvPr id="4" name="Image1"/>
          <p:cNvPicPr/>
          <p:nvPr/>
        </p:nvPicPr>
        <p:blipFill>
          <a:blip r:embed="rId3"/>
          <a:stretch>
            <a:fillRect/>
          </a:stretch>
        </p:blipFill>
        <p:spPr bwMode="auto">
          <a:xfrm>
            <a:off x="682076" y="1174275"/>
            <a:ext cx="2957195" cy="1825625"/>
          </a:xfrm>
          <a:prstGeom prst="rect">
            <a:avLst/>
          </a:prstGeom>
        </p:spPr>
      </p:pic>
      <p:pic>
        <p:nvPicPr>
          <p:cNvPr id="5" name="Image2"/>
          <p:cNvPicPr/>
          <p:nvPr/>
        </p:nvPicPr>
        <p:blipFill>
          <a:blip r:embed="rId4"/>
          <a:stretch>
            <a:fillRect/>
          </a:stretch>
        </p:blipFill>
        <p:spPr bwMode="auto">
          <a:xfrm>
            <a:off x="685759" y="2999900"/>
            <a:ext cx="2953512" cy="1828800"/>
          </a:xfrm>
          <a:prstGeom prst="rect">
            <a:avLst/>
          </a:prstGeom>
        </p:spPr>
      </p:pic>
      <p:pic>
        <p:nvPicPr>
          <p:cNvPr id="7" name="Image4"/>
          <p:cNvPicPr/>
          <p:nvPr/>
        </p:nvPicPr>
        <p:blipFill>
          <a:blip r:embed="rId5"/>
          <a:stretch>
            <a:fillRect/>
          </a:stretch>
        </p:blipFill>
        <p:spPr bwMode="auto">
          <a:xfrm>
            <a:off x="5570509" y="1174275"/>
            <a:ext cx="2926080" cy="1828800"/>
          </a:xfrm>
          <a:prstGeom prst="rect">
            <a:avLst/>
          </a:prstGeom>
        </p:spPr>
      </p:pic>
      <p:pic>
        <p:nvPicPr>
          <p:cNvPr id="8" name="Image5"/>
          <p:cNvPicPr/>
          <p:nvPr/>
        </p:nvPicPr>
        <p:blipFill>
          <a:blip r:embed="rId6"/>
          <a:stretch>
            <a:fillRect/>
          </a:stretch>
        </p:blipFill>
        <p:spPr bwMode="auto">
          <a:xfrm>
            <a:off x="5570509" y="2999900"/>
            <a:ext cx="2926080" cy="1828800"/>
          </a:xfrm>
          <a:prstGeom prst="rect">
            <a:avLst/>
          </a:prstGeom>
        </p:spPr>
      </p:pic>
      <p:pic>
        <p:nvPicPr>
          <p:cNvPr id="9" name="Image6"/>
          <p:cNvPicPr/>
          <p:nvPr/>
        </p:nvPicPr>
        <p:blipFill>
          <a:blip r:embed="rId7"/>
          <a:stretch>
            <a:fillRect/>
          </a:stretch>
        </p:blipFill>
        <p:spPr bwMode="auto">
          <a:xfrm>
            <a:off x="5570509" y="4822985"/>
            <a:ext cx="2926080" cy="1828800"/>
          </a:xfrm>
          <a:prstGeom prst="rect">
            <a:avLst/>
          </a:prstGeom>
        </p:spPr>
      </p:pic>
    </p:spTree>
    <p:extLst>
      <p:ext uri="{BB962C8B-B14F-4D97-AF65-F5344CB8AC3E}">
        <p14:creationId xmlns:p14="http://schemas.microsoft.com/office/powerpoint/2010/main" val="37229833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Correlations</a:t>
            </a:r>
            <a:endParaRPr lang="en-US" dirty="0"/>
          </a:p>
        </p:txBody>
      </p:sp>
      <p:pic>
        <p:nvPicPr>
          <p:cNvPr id="3" name="Image7"/>
          <p:cNvPicPr/>
          <p:nvPr/>
        </p:nvPicPr>
        <p:blipFill>
          <a:blip r:embed="rId2"/>
          <a:stretch>
            <a:fillRect/>
          </a:stretch>
        </p:blipFill>
        <p:spPr bwMode="auto">
          <a:xfrm>
            <a:off x="441452" y="1074462"/>
            <a:ext cx="2926080" cy="1828800"/>
          </a:xfrm>
          <a:prstGeom prst="rect">
            <a:avLst/>
          </a:prstGeom>
        </p:spPr>
      </p:pic>
      <p:pic>
        <p:nvPicPr>
          <p:cNvPr id="4" name="Image8"/>
          <p:cNvPicPr/>
          <p:nvPr/>
        </p:nvPicPr>
        <p:blipFill>
          <a:blip r:embed="rId3"/>
          <a:stretch>
            <a:fillRect/>
          </a:stretch>
        </p:blipFill>
        <p:spPr bwMode="auto">
          <a:xfrm>
            <a:off x="441452" y="2903262"/>
            <a:ext cx="2926080" cy="1828800"/>
          </a:xfrm>
          <a:prstGeom prst="rect">
            <a:avLst/>
          </a:prstGeom>
        </p:spPr>
      </p:pic>
      <p:pic>
        <p:nvPicPr>
          <p:cNvPr id="5" name="Image9"/>
          <p:cNvPicPr/>
          <p:nvPr/>
        </p:nvPicPr>
        <p:blipFill>
          <a:blip r:embed="rId4"/>
          <a:stretch>
            <a:fillRect/>
          </a:stretch>
        </p:blipFill>
        <p:spPr bwMode="auto">
          <a:xfrm>
            <a:off x="441452" y="4732062"/>
            <a:ext cx="2926080" cy="1828800"/>
          </a:xfrm>
          <a:prstGeom prst="rect">
            <a:avLst/>
          </a:prstGeom>
        </p:spPr>
      </p:pic>
      <p:pic>
        <p:nvPicPr>
          <p:cNvPr id="6" name="Image10"/>
          <p:cNvPicPr/>
          <p:nvPr/>
        </p:nvPicPr>
        <p:blipFill>
          <a:blip r:embed="rId5"/>
          <a:stretch>
            <a:fillRect/>
          </a:stretch>
        </p:blipFill>
        <p:spPr bwMode="auto">
          <a:xfrm>
            <a:off x="5329836" y="1074462"/>
            <a:ext cx="2926080" cy="1828800"/>
          </a:xfrm>
          <a:prstGeom prst="rect">
            <a:avLst/>
          </a:prstGeom>
        </p:spPr>
      </p:pic>
      <p:pic>
        <p:nvPicPr>
          <p:cNvPr id="7" name="Image11"/>
          <p:cNvPicPr/>
          <p:nvPr/>
        </p:nvPicPr>
        <p:blipFill>
          <a:blip r:embed="rId6"/>
          <a:stretch>
            <a:fillRect/>
          </a:stretch>
        </p:blipFill>
        <p:spPr bwMode="auto">
          <a:xfrm>
            <a:off x="5329836" y="2901951"/>
            <a:ext cx="2926080" cy="1828800"/>
          </a:xfrm>
          <a:prstGeom prst="rect">
            <a:avLst/>
          </a:prstGeom>
        </p:spPr>
      </p:pic>
      <p:pic>
        <p:nvPicPr>
          <p:cNvPr id="8" name="Image12"/>
          <p:cNvPicPr/>
          <p:nvPr/>
        </p:nvPicPr>
        <p:blipFill>
          <a:blip r:embed="rId7"/>
          <a:stretch>
            <a:fillRect/>
          </a:stretch>
        </p:blipFill>
        <p:spPr bwMode="auto">
          <a:xfrm>
            <a:off x="5329836" y="4729440"/>
            <a:ext cx="2926080" cy="1828800"/>
          </a:xfrm>
          <a:prstGeom prst="rect">
            <a:avLst/>
          </a:prstGeom>
        </p:spPr>
      </p:pic>
    </p:spTree>
    <p:extLst>
      <p:ext uri="{BB962C8B-B14F-4D97-AF65-F5344CB8AC3E}">
        <p14:creationId xmlns:p14="http://schemas.microsoft.com/office/powerpoint/2010/main" val="8639393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Correlations</a:t>
            </a:r>
            <a:endParaRPr lang="en-US" dirty="0"/>
          </a:p>
        </p:txBody>
      </p:sp>
      <p:pic>
        <p:nvPicPr>
          <p:cNvPr id="3" name="Image13"/>
          <p:cNvPicPr/>
          <p:nvPr/>
        </p:nvPicPr>
        <p:blipFill>
          <a:blip r:embed="rId2"/>
          <a:stretch>
            <a:fillRect/>
          </a:stretch>
        </p:blipFill>
        <p:spPr bwMode="auto">
          <a:xfrm>
            <a:off x="2949888" y="1133698"/>
            <a:ext cx="2926080" cy="1828800"/>
          </a:xfrm>
          <a:prstGeom prst="rect">
            <a:avLst/>
          </a:prstGeom>
        </p:spPr>
      </p:pic>
      <p:pic>
        <p:nvPicPr>
          <p:cNvPr id="4" name="Image14"/>
          <p:cNvPicPr/>
          <p:nvPr/>
        </p:nvPicPr>
        <p:blipFill>
          <a:blip r:embed="rId3"/>
          <a:stretch>
            <a:fillRect/>
          </a:stretch>
        </p:blipFill>
        <p:spPr bwMode="auto">
          <a:xfrm>
            <a:off x="2949888" y="2962498"/>
            <a:ext cx="2926080" cy="1828800"/>
          </a:xfrm>
          <a:prstGeom prst="rect">
            <a:avLst/>
          </a:prstGeom>
        </p:spPr>
      </p:pic>
      <p:pic>
        <p:nvPicPr>
          <p:cNvPr id="6" name="Image15"/>
          <p:cNvPicPr/>
          <p:nvPr/>
        </p:nvPicPr>
        <p:blipFill>
          <a:blip r:embed="rId4"/>
          <a:stretch>
            <a:fillRect/>
          </a:stretch>
        </p:blipFill>
        <p:spPr bwMode="auto">
          <a:xfrm>
            <a:off x="2949888" y="4791298"/>
            <a:ext cx="2926080" cy="1828800"/>
          </a:xfrm>
          <a:prstGeom prst="rect">
            <a:avLst/>
          </a:prstGeom>
        </p:spPr>
      </p:pic>
    </p:spTree>
    <p:extLst>
      <p:ext uri="{BB962C8B-B14F-4D97-AF65-F5344CB8AC3E}">
        <p14:creationId xmlns:p14="http://schemas.microsoft.com/office/powerpoint/2010/main" val="29831517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smtClean="0"/>
              <a:t>From AHFE submissions website </a:t>
            </a:r>
          </a:p>
          <a:p>
            <a:pPr lvl="1"/>
            <a:r>
              <a:rPr lang="en-US" dirty="0" smtClean="0"/>
              <a:t>In </a:t>
            </a:r>
            <a:r>
              <a:rPr lang="en-US" dirty="0"/>
              <a:t>general, the duration of each presentation should last </a:t>
            </a:r>
            <a:r>
              <a:rPr lang="en-US" b="1" dirty="0"/>
              <a:t>15 min </a:t>
            </a:r>
            <a:r>
              <a:rPr lang="en-US" dirty="0"/>
              <a:t>with 2 min for discussion. The session chairs may, at their discretion, increase the time allocation to each presenter. Prepare and bring your presentation file saved in Microsoft PowerPoint (.</a:t>
            </a:r>
            <a:r>
              <a:rPr lang="en-US" dirty="0" err="1"/>
              <a:t>ppt</a:t>
            </a:r>
            <a:r>
              <a:rPr lang="en-US" dirty="0"/>
              <a:t>), (.</a:t>
            </a:r>
            <a:r>
              <a:rPr lang="en-US" dirty="0" err="1"/>
              <a:t>pptx</a:t>
            </a:r>
            <a:r>
              <a:rPr lang="en-US" dirty="0"/>
              <a:t>) file format. Internet access will NOT be available in the meeting rooms</a:t>
            </a:r>
            <a:r>
              <a:rPr lang="en-US" dirty="0" smtClean="0"/>
              <a:t>.</a:t>
            </a:r>
            <a:endParaRPr lang="en-US" dirty="0"/>
          </a:p>
          <a:p>
            <a:pPr lvl="1"/>
            <a:r>
              <a:rPr lang="en-US" dirty="0" smtClean="0"/>
              <a:t>Check </a:t>
            </a:r>
            <a:r>
              <a:rPr lang="en-US" dirty="0"/>
              <a:t>in at the Session Room, preferably 30-45 minutes before your session, to submit/upload your files and to preview your presentation. If checking in the day of your session, please arrive by at least 4 hours prior to the start of your session (this refers to the session start time, not the presentation start time). Each room is equipped with a laptop PC and a projection system</a:t>
            </a:r>
            <a:r>
              <a:rPr lang="en-US" dirty="0" smtClean="0"/>
              <a:t>.</a:t>
            </a:r>
            <a:endParaRPr lang="en-US" dirty="0"/>
          </a:p>
          <a:p>
            <a:pPr lvl="1"/>
            <a:r>
              <a:rPr lang="en-US" dirty="0" smtClean="0"/>
              <a:t>Session </a:t>
            </a:r>
            <a:r>
              <a:rPr lang="en-US" dirty="0"/>
              <a:t>chairs or support team will be available to assist with the upload of your files and provide the opportunity to preview and/or edit the presentation, as necessary</a:t>
            </a:r>
            <a:r>
              <a:rPr lang="en-US" dirty="0" smtClean="0"/>
              <a:t>.</a:t>
            </a:r>
            <a:endParaRPr lang="en-US" dirty="0"/>
          </a:p>
          <a:p>
            <a:pPr lvl="1"/>
            <a:r>
              <a:rPr lang="en-US" dirty="0" smtClean="0"/>
              <a:t>Bring </a:t>
            </a:r>
            <a:r>
              <a:rPr lang="en-US" dirty="0"/>
              <a:t>a Backup: Be sure to bring a backup copy of your presentation with you to the meeting. Please note, the Final Program may be changed due to speakers attendance, etc.</a:t>
            </a:r>
          </a:p>
          <a:p>
            <a:endParaRPr lang="en-US" dirty="0"/>
          </a:p>
        </p:txBody>
      </p:sp>
      <p:sp>
        <p:nvSpPr>
          <p:cNvPr id="3" name="Title 2"/>
          <p:cNvSpPr>
            <a:spLocks noGrp="1"/>
          </p:cNvSpPr>
          <p:nvPr>
            <p:ph type="title"/>
          </p:nvPr>
        </p:nvSpPr>
        <p:spPr/>
        <p:txBody>
          <a:bodyPr/>
          <a:lstStyle/>
          <a:p>
            <a:r>
              <a:rPr lang="en-US" dirty="0"/>
              <a:t>SLIDE TITLE GOES </a:t>
            </a:r>
            <a:r>
              <a:rPr lang="en-US" dirty="0" smtClean="0"/>
              <a:t>HERE</a:t>
            </a:r>
            <a:endParaRPr lang="en-US" dirty="0"/>
          </a:p>
        </p:txBody>
      </p:sp>
    </p:spTree>
    <p:extLst>
      <p:ext uri="{BB962C8B-B14F-4D97-AF65-F5344CB8AC3E}">
        <p14:creationId xmlns:p14="http://schemas.microsoft.com/office/powerpoint/2010/main" val="353403151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UNCLASSIFIED//FOUO//DRAFT//PRE-DECISIONAL">
  <a:themeElements>
    <a:clrScheme name="US Army Color Palette">
      <a:dk1>
        <a:srgbClr val="000000"/>
      </a:dk1>
      <a:lt1>
        <a:srgbClr val="FFFFFF"/>
      </a:lt1>
      <a:dk2>
        <a:srgbClr val="FFDA3D"/>
      </a:dk2>
      <a:lt2>
        <a:srgbClr val="CCCCCC"/>
      </a:lt2>
      <a:accent1>
        <a:srgbClr val="333C33"/>
      </a:accent1>
      <a:accent2>
        <a:srgbClr val="717365"/>
      </a:accent2>
      <a:accent3>
        <a:srgbClr val="BFB8AB"/>
      </a:accent3>
      <a:accent4>
        <a:srgbClr val="B8B9B2"/>
      </a:accent4>
      <a:accent5>
        <a:srgbClr val="DBDCD8"/>
      </a:accent5>
      <a:accent6>
        <a:srgbClr val="333333"/>
      </a:accent6>
      <a:hlink>
        <a:srgbClr val="FFDA3D"/>
      </a:hlink>
      <a:folHlink>
        <a:srgbClr val="BFB8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UNCLASSIFIED//FOR OFFICIAL USE ONLY">
  <a:themeElements>
    <a:clrScheme name="US Army Color Palette">
      <a:dk1>
        <a:srgbClr val="000000"/>
      </a:dk1>
      <a:lt1>
        <a:srgbClr val="FFFFFF"/>
      </a:lt1>
      <a:dk2>
        <a:srgbClr val="FFDA3D"/>
      </a:dk2>
      <a:lt2>
        <a:srgbClr val="CCCCCC"/>
      </a:lt2>
      <a:accent1>
        <a:srgbClr val="333C33"/>
      </a:accent1>
      <a:accent2>
        <a:srgbClr val="717365"/>
      </a:accent2>
      <a:accent3>
        <a:srgbClr val="BFB8AB"/>
      </a:accent3>
      <a:accent4>
        <a:srgbClr val="B8B9B2"/>
      </a:accent4>
      <a:accent5>
        <a:srgbClr val="DBDCD8"/>
      </a:accent5>
      <a:accent6>
        <a:srgbClr val="333333"/>
      </a:accent6>
      <a:hlink>
        <a:srgbClr val="FFDA3D"/>
      </a:hlink>
      <a:folHlink>
        <a:srgbClr val="BFB8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UNCLASSIFIED">
  <a:themeElements>
    <a:clrScheme name="US Army Color Palette">
      <a:dk1>
        <a:srgbClr val="000000"/>
      </a:dk1>
      <a:lt1>
        <a:srgbClr val="FFFFFF"/>
      </a:lt1>
      <a:dk2>
        <a:srgbClr val="FFDA3D"/>
      </a:dk2>
      <a:lt2>
        <a:srgbClr val="CCCCCC"/>
      </a:lt2>
      <a:accent1>
        <a:srgbClr val="333C33"/>
      </a:accent1>
      <a:accent2>
        <a:srgbClr val="717365"/>
      </a:accent2>
      <a:accent3>
        <a:srgbClr val="BFB8AB"/>
      </a:accent3>
      <a:accent4>
        <a:srgbClr val="B8B9B2"/>
      </a:accent4>
      <a:accent5>
        <a:srgbClr val="DBDCD8"/>
      </a:accent5>
      <a:accent6>
        <a:srgbClr val="333333"/>
      </a:accent6>
      <a:hlink>
        <a:srgbClr val="FFDA3D"/>
      </a:hlink>
      <a:folHlink>
        <a:srgbClr val="BFB8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APPROVED FOR PUBLIC RELEASE">
  <a:themeElements>
    <a:clrScheme name="US Army Color Palette">
      <a:dk1>
        <a:srgbClr val="000000"/>
      </a:dk1>
      <a:lt1>
        <a:srgbClr val="FFFFFF"/>
      </a:lt1>
      <a:dk2>
        <a:srgbClr val="FFDA3D"/>
      </a:dk2>
      <a:lt2>
        <a:srgbClr val="CCCCCC"/>
      </a:lt2>
      <a:accent1>
        <a:srgbClr val="333C33"/>
      </a:accent1>
      <a:accent2>
        <a:srgbClr val="717365"/>
      </a:accent2>
      <a:accent3>
        <a:srgbClr val="BFB8AB"/>
      </a:accent3>
      <a:accent4>
        <a:srgbClr val="B8B9B2"/>
      </a:accent4>
      <a:accent5>
        <a:srgbClr val="DBDCD8"/>
      </a:accent5>
      <a:accent6>
        <a:srgbClr val="333333"/>
      </a:accent6>
      <a:hlink>
        <a:srgbClr val="FFDA3D"/>
      </a:hlink>
      <a:folHlink>
        <a:srgbClr val="BFB8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Picture" ma:contentTypeID="0x01010200F177B2FE6EB01A4CB29C652E415E2656" ma:contentTypeVersion="11" ma:contentTypeDescription="Upload an image or a photograph." ma:contentTypeScope="" ma:versionID="f320764365f13f50dd47b542c61f0f3c">
  <xsd:schema xmlns:xsd="http://www.w3.org/2001/XMLSchema" xmlns:xs="http://www.w3.org/2001/XMLSchema" xmlns:p="http://schemas.microsoft.com/office/2006/metadata/properties" xmlns:ns1="http://schemas.microsoft.com/sharepoint/v3" xmlns:ns2="2c061caa-ac96-4ed1-b74a-abb1169dd94c" xmlns:ns3="8acc76ce-4927-4c10-947a-54b615abcc3a" targetNamespace="http://schemas.microsoft.com/office/2006/metadata/properties" ma:root="true" ma:fieldsID="4ef1a987c416b8de0673a0f47df6a8c9" ns1:_="" ns2:_="" ns3:_="">
    <xsd:import namespace="http://schemas.microsoft.com/sharepoint/v3"/>
    <xsd:import namespace="2c061caa-ac96-4ed1-b74a-abb1169dd94c"/>
    <xsd:import namespace="8acc76ce-4927-4c10-947a-54b615abcc3a"/>
    <xsd:element name="properties">
      <xsd:complexType>
        <xsd:sequence>
          <xsd:element name="documentManagement">
            <xsd:complexType>
              <xsd:all>
                <xsd:element ref="ns1:ImageWidth" minOccurs="0"/>
                <xsd:element ref="ns1:ImageHeight" minOccurs="0"/>
                <xsd:element ref="ns1:ImageCreateDate" minOccurs="0"/>
                <xsd:element ref="ns1:Description" minOccurs="0"/>
                <xsd:element ref="ns1:ThumbnailExists" minOccurs="0"/>
                <xsd:element ref="ns1:PreviewExists" minOccurs="0"/>
                <xsd:element ref="ns1:AlternateThumbnailUrl" minOccurs="0"/>
                <xsd:element ref="ns2:Organization" minOccurs="0"/>
                <xsd:element ref="ns2:SharedWithUsers" minOccurs="0"/>
                <xsd:element ref="ns3:Display_x0020_Name" minOccurs="0"/>
                <xsd:element ref="ns3:Desktop" minOccurs="0"/>
                <xsd:element ref="ns3:Group" minOccurs="0"/>
                <xsd:element ref="ns3:DL_Link" minOccurs="0"/>
                <xsd:element ref="ns3:FileType0" minOccurs="0"/>
                <xsd:element ref="ns3:SortOr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ImageWidth" ma:index="11" nillable="true" ma:displayName="Picture Width" ma:internalName="ImageWidth" ma:readOnly="true">
      <xsd:simpleType>
        <xsd:restriction base="dms:Unknown"/>
      </xsd:simpleType>
    </xsd:element>
    <xsd:element name="ImageHeight" ma:index="12" nillable="true" ma:displayName="Picture Height" ma:internalName="ImageHeight" ma:readOnly="true">
      <xsd:simpleType>
        <xsd:restriction base="dms:Unknown"/>
      </xsd:simpleType>
    </xsd:element>
    <xsd:element name="ImageCreateDate" ma:index="13" nillable="true" ma:displayName="Date Picture Taken" ma:format="DateTime" ma:hidden="true" ma:internalName="ImageCreateDate">
      <xsd:simpleType>
        <xsd:restriction base="dms:DateTime"/>
      </xsd:simpleType>
    </xsd:element>
    <xsd:element name="Description" ma:index="14" nillable="true" ma:displayName="Description" ma:description="Used as alternative text for the picture." ma:hidden="true" ma:internalName="Description">
      <xsd:simpleType>
        <xsd:restriction base="dms:Note">
          <xsd:maxLength value="255"/>
        </xsd:restriction>
      </xsd:simpleType>
    </xsd:element>
    <xsd:element name="ThumbnailExists" ma:index="23" nillable="true" ma:displayName="Thumbnail Exists" ma:default="FALSE" ma:hidden="true" ma:internalName="ThumbnailExists" ma:readOnly="true">
      <xsd:simpleType>
        <xsd:restriction base="dms:Boolean"/>
      </xsd:simpleType>
    </xsd:element>
    <xsd:element name="PreviewExists" ma:index="24" nillable="true" ma:displayName="Preview Exists" ma:default="FALSE" ma:hidden="true" ma:internalName="PreviewExists" ma:readOnly="true">
      <xsd:simpleType>
        <xsd:restriction base="dms:Boolean"/>
      </xsd:simpleType>
    </xsd:element>
    <xsd:element name="AlternateThumbnailUrl" ma:index="25" nillable="true" ma:displayName="Preview Image URL" ma:format="Image" ma:hidden="true" ma:internalName="AlternateThumbnail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c061caa-ac96-4ed1-b74a-abb1169dd94c" elementFormDefault="qualified">
    <xsd:import namespace="http://schemas.microsoft.com/office/2006/documentManagement/types"/>
    <xsd:import namespace="http://schemas.microsoft.com/office/infopath/2007/PartnerControls"/>
    <xsd:element name="Organization" ma:index="26" nillable="true" ma:displayName="Organization" ma:default="HQ RDECOM" ma:format="Dropdown" ma:internalName="Organization">
      <xsd:simpleType>
        <xsd:restriction base="dms:Choice">
          <xsd:enumeration value="All"/>
          <xsd:enumeration value="HQ RDECOM"/>
          <xsd:enumeration value="AMRDEC"/>
          <xsd:enumeration value="AMSAA"/>
          <xsd:enumeration value="ARDEC"/>
          <xsd:enumeration value="ARL"/>
          <xsd:enumeration value="CERDEC"/>
          <xsd:enumeration value="ECBC"/>
          <xsd:enumeration value="NSRDEC"/>
          <xsd:enumeration value="TARDEC"/>
        </xsd:restriction>
      </xsd:simpleType>
    </xsd:element>
    <xsd:element name="SharedWithUsers" ma:index="2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acc76ce-4927-4c10-947a-54b615abcc3a" elementFormDefault="qualified">
    <xsd:import namespace="http://schemas.microsoft.com/office/2006/documentManagement/types"/>
    <xsd:import namespace="http://schemas.microsoft.com/office/infopath/2007/PartnerControls"/>
    <xsd:element name="Display_x0020_Name" ma:index="28" nillable="true" ma:displayName="Display Name" ma:internalName="Display_x0020_Name">
      <xsd:simpleType>
        <xsd:restriction base="dms:Text">
          <xsd:maxLength value="255"/>
        </xsd:restriction>
      </xsd:simpleType>
    </xsd:element>
    <xsd:element name="Desktop" ma:index="29" nillable="true" ma:displayName="Tab" ma:format="Dropdown" ma:internalName="Desktop">
      <xsd:simpleType>
        <xsd:restriction base="dms:Choice">
          <xsd:enumeration value="Professional"/>
          <xsd:enumeration value="Both"/>
        </xsd:restriction>
      </xsd:simpleType>
    </xsd:element>
    <xsd:element name="Group" ma:index="30" nillable="true" ma:displayName="Group" ma:format="Dropdown" ma:internalName="Group">
      <xsd:simpleType>
        <xsd:restriction base="dms:Choice">
          <xsd:enumeration value="Army Logo"/>
          <xsd:enumeration value="Bi-Fold Brochure"/>
          <xsd:enumeration value="Bio"/>
          <xsd:enumeration value="Business Card"/>
          <xsd:enumeration value="Command Lineage"/>
          <xsd:enumeration value="Fact Sheet"/>
          <xsd:enumeration value="Large Poster"/>
          <xsd:enumeration value="Small Poster"/>
          <xsd:enumeration value="Specific Lineage"/>
          <xsd:enumeration value="PowerPoint"/>
          <xsd:enumeration value="Social Media"/>
          <xsd:enumeration value="Tri-Fold Brochure"/>
        </xsd:restriction>
      </xsd:simpleType>
    </xsd:element>
    <xsd:element name="DL_Link" ma:index="31" nillable="true" ma:displayName="Download" ma:format="Hyperlink" ma:internalName="DL_Link">
      <xsd:complexType>
        <xsd:complexContent>
          <xsd:extension base="dms:URL">
            <xsd:sequence>
              <xsd:element name="Url" type="dms:ValidUrl" minOccurs="0" nillable="true"/>
              <xsd:element name="Description" type="xsd:string" nillable="true"/>
            </xsd:sequence>
          </xsd:extension>
        </xsd:complexContent>
      </xsd:complexType>
    </xsd:element>
    <xsd:element name="FileType0" ma:index="33" nillable="true" ma:displayName="FileType" ma:format="Dropdown" ma:internalName="FileType0">
      <xsd:simpleType>
        <xsd:restriction base="dms:Choice">
          <xsd:enumeration value="docx"/>
          <xsd:enumeration value="eps"/>
          <xsd:enumeration value="indd"/>
          <xsd:enumeration value="pdf"/>
          <xsd:enumeration value="png"/>
          <xsd:enumeration value="pptx"/>
        </xsd:restriction>
      </xsd:simpleType>
    </xsd:element>
    <xsd:element name="SortOrder" ma:index="34" nillable="true" ma:displayName="SortOrder" ma:default="01 – Army Logo" ma:format="Dropdown" ma:internalName="SortOrder">
      <xsd:simpleType>
        <xsd:restriction base="dms:Choice">
          <xsd:enumeration value="01 – Army Logo"/>
          <xsd:enumeration value="02 – Command Lineage"/>
          <xsd:enumeration value="03 – Competency Lineage"/>
          <xsd:enumeration value="04 – PowerPoint (Briefing) Templates"/>
          <xsd:enumeration value="05 – Business Card Templates"/>
          <xsd:enumeration value="06 – Name Tent Templates"/>
          <xsd:enumeration value="07 – Social Media"/>
          <xsd:enumeration value="08 – VTC Signs"/>
          <xsd:enumeration value="09 – Poster Templates (Small – 11&quot;x17&quot;)"/>
          <xsd:enumeration value="10 – Poster Templates (Large – 11&quot;x17&quot;)"/>
          <xsd:enumeration value="11 – Fact Sheet Templates"/>
          <xsd:enumeration value="12 – Brochure Templates (Bi-Fold)"/>
          <xsd:enumeration value="13 – Brochure Templates (Tri-Fold)"/>
          <xsd:enumeration value="14 – Bio Templates"/>
          <xsd:enumeration value="15 - Exterior Signage"/>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8" ma:displayName="Title"/>
        <xsd:element ref="dc:subject" minOccurs="0" maxOccurs="1"/>
        <xsd:element ref="dc:description" minOccurs="0" maxOccurs="1"/>
        <xsd:element name="keywords" minOccurs="0" maxOccurs="1" type="xsd:string" ma:index="20"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lternateThumbnailUrl xmlns="http://schemas.microsoft.com/sharepoint/v3">
      <Url xsi:nil="true"/>
      <Description xsi:nil="true"/>
    </AlternateThumbnailUrl>
    <Group xmlns="8acc76ce-4927-4c10-947a-54b615abcc3a">PowerPoint</Group>
    <Display_x0020_Name xmlns="8acc76ce-4927-4c10-947a-54b615abcc3a">CCDC Army Research Laboratory – PowerPoint (Briefing) – Standard Format</Display_x0020_Name>
    <ImageCreateDate xmlns="http://schemas.microsoft.com/sharepoint/v3" xsi:nil="true"/>
    <Organization xmlns="2c061caa-ac96-4ed1-b74a-abb1169dd94c">ARL</Organization>
    <Description xmlns="http://schemas.microsoft.com/sharepoint/v3" xsi:nil="true"/>
    <Desktop xmlns="8acc76ce-4927-4c10-947a-54b615abcc3a">Both</Desktop>
    <DL_Link xmlns="8acc76ce-4927-4c10-947a-54b615abcc3a">
      <Url>https://rdecom.apgea.army.mil/_layouts/download.aspx?SourceUrl=https://rdecom.apgea.army.mil/BP/BrandItems/PowerPoint_Template_RLB.pptx</Url>
      <Description>DOWNLOAD</Description>
    </DL_Link>
    <FileType0 xmlns="8acc76ce-4927-4c10-947a-54b615abcc3a">pptx</FileType0>
    <SortOrder xmlns="8acc76ce-4927-4c10-947a-54b615abcc3a">04 – PowerPoint (Briefing) Templates</SortOrd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CB1D6C-4708-4946-9D73-8E1A5A223D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c061caa-ac96-4ed1-b74a-abb1169dd94c"/>
    <ds:schemaRef ds:uri="8acc76ce-4927-4c10-947a-54b615abcc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FEFD74-9FBC-4157-8802-AFD8EC757C9F}">
  <ds:schemaRefs>
    <ds:schemaRef ds:uri="http://schemas.microsoft.com/sharepoint/v3"/>
    <ds:schemaRef ds:uri="http://purl.org/dc/terms/"/>
    <ds:schemaRef ds:uri="http://purl.org/dc/elements/1.1/"/>
    <ds:schemaRef ds:uri="2c061caa-ac96-4ed1-b74a-abb1169dd94c"/>
    <ds:schemaRef ds:uri="http://purl.org/dc/dcmitype/"/>
    <ds:schemaRef ds:uri="http://schemas.microsoft.com/office/infopath/2007/PartnerControls"/>
    <ds:schemaRef ds:uri="8acc76ce-4927-4c10-947a-54b615abcc3a"/>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13FA5FF-2111-4E01-9BF6-3626FF06C5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4901</TotalTime>
  <Words>1445</Words>
  <Application>Microsoft Office PowerPoint</Application>
  <PresentationFormat>On-screen Show (4:3)</PresentationFormat>
  <Paragraphs>262</Paragraphs>
  <Slides>21</Slides>
  <Notes>7</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21</vt:i4>
      </vt:variant>
    </vt:vector>
  </HeadingPairs>
  <TitlesOfParts>
    <vt:vector size="30" baseType="lpstr">
      <vt:lpstr>MS PGothic</vt:lpstr>
      <vt:lpstr>Arial</vt:lpstr>
      <vt:lpstr>Arial Bold</vt:lpstr>
      <vt:lpstr>Times</vt:lpstr>
      <vt:lpstr>Times New Roman</vt:lpstr>
      <vt:lpstr>1_UNCLASSIFIED//FOUO//DRAFT//PRE-DECISIONAL</vt:lpstr>
      <vt:lpstr>2_UNCLASSIFIED//FOR OFFICIAL USE ONLY</vt:lpstr>
      <vt:lpstr>3_UNCLASSIFIED</vt:lpstr>
      <vt:lpstr>4_APPROVED FOR PUBLIC RELEASE</vt:lpstr>
      <vt:lpstr>PowerPoint Presentation</vt:lpstr>
      <vt:lpstr>Information Extraction</vt:lpstr>
      <vt:lpstr>Experiment 1</vt:lpstr>
      <vt:lpstr>Experiment 1 - Procedure</vt:lpstr>
      <vt:lpstr>Experiment 1 - Procedure</vt:lpstr>
      <vt:lpstr>Experiment 1 - Procedure</vt:lpstr>
      <vt:lpstr>Experiment 1 - Results</vt:lpstr>
      <vt:lpstr>Experiment 2</vt:lpstr>
      <vt:lpstr>Experiment 2 - Procedure</vt:lpstr>
      <vt:lpstr>Experiment 2 - Procedure</vt:lpstr>
      <vt:lpstr>Experiment 2 - Procedure</vt:lpstr>
      <vt:lpstr>Experiment 2 - Procedure</vt:lpstr>
      <vt:lpstr>Experiment 2 - Results</vt:lpstr>
      <vt:lpstr>Experiment 2 - Results</vt:lpstr>
      <vt:lpstr>Discussion</vt:lpstr>
      <vt:lpstr>Thanks!</vt:lpstr>
      <vt:lpstr>Preference</vt:lpstr>
      <vt:lpstr>Correlations</vt:lpstr>
      <vt:lpstr>Correlations</vt:lpstr>
      <vt:lpstr>Correlations</vt:lpstr>
      <vt:lpstr>SLIDE TITLE GOES HERE</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Army</dc:title>
  <dc:subject>Active Army</dc:subject>
  <dc:creator>MWG</dc:creator>
  <cp:keywords/>
  <dc:description/>
  <cp:lastModifiedBy>Zaroukian, Erin G. (CTR)</cp:lastModifiedBy>
  <cp:revision>295</cp:revision>
  <cp:lastPrinted>2018-04-12T16:00:29Z</cp:lastPrinted>
  <dcterms:created xsi:type="dcterms:W3CDTF">2016-09-22T11:21:33Z</dcterms:created>
  <dcterms:modified xsi:type="dcterms:W3CDTF">2019-07-22T18:48:51Z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0x01010200F177B2FE6EB01A4CB29C652E415E2656</vt:lpwstr>
  </property>
  <property fmtid="{D5CDD505-2E9C-101B-9397-08002B2CF9AE}" pid="4" name="WorkflowChangePath">
    <vt:lpwstr>fa62ed53-5d34-4242-83f6-2fedcb8fc24a,5;fa62ed53-5d34-4242-83f6-2fedcb8fc24a,7;fa62ed53-5d34-4242-83f6-2fedcb8fc24a,11;fa62ed53-5d34-4242-83f6-2fedcb8fc24a,13;fa62ed53-5d34-4242-83f6-2fedcb8fc24a,15;fa62ed53-5d34-4242-83f6-2fedcb8fc24a,15;fa62ed53-5d34-424</vt:lpwstr>
  </property>
</Properties>
</file>